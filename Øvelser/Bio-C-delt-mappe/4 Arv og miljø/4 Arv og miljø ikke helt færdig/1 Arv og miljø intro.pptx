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a-DK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denstoredanske.dk/Natur_og_milj%c3%b8/Antropologi/Fortidsmennesket/menneske" TargetMode="External"/><Relationship Id="rId3" Type="http://schemas.openxmlformats.org/officeDocument/2006/relationships/hyperlink" Target="http://denstoredanske.dk/Natur_og_milj%c3%b8/Botanik/Botanikere_og_plantegeografer/Carl_von_Linn%c3%a9" TargetMode="External"/><Relationship Id="rId4" Type="http://schemas.openxmlformats.org/officeDocument/2006/relationships/hyperlink" Target="http://denstoredanske.dk/Natur_og_milj%c3%b8/Botanik/Almen_botanik/klin" TargetMode="External"/><Relationship Id="rId5" Type="http://schemas.openxmlformats.org/officeDocument/2006/relationships/hyperlink" Target="http://denstoredanske.dk/Natur_og_milj%c3%b8/Genetik_og_evolution/Genetik/genetisk_drift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/>
              <a:t>http://denstoredanske.dk/Natur_og_milj%C3%B8/Antropologi/Menneskeracer/menneskeracer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/>
              <a:t>menneskeracer, </a:t>
            </a:r>
            <a:r>
              <a:rPr lang="da-DK"/>
              <a:t>grupper opstillet til brug for en underopdeling af </a:t>
            </a:r>
            <a:r>
              <a:rPr lang="da-DK" u="sng">
                <a:solidFill>
                  <a:schemeClr val="hlink"/>
                </a:solidFill>
                <a:hlinkClick r:id="rId2"/>
              </a:rPr>
              <a:t>mennesker</a:t>
            </a:r>
            <a:r>
              <a:rPr lang="da-DK"/>
              <a:t>. Som for de fleste dyr har man gennem tiden forsøgt at opstille en raceklassifikation for mennesker.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/>
              <a:t>Det første sådanne system ses hos </a:t>
            </a:r>
            <a:r>
              <a:rPr lang="da-DK" u="sng">
                <a:solidFill>
                  <a:schemeClr val="hlink"/>
                </a:solidFill>
                <a:hlinkClick r:id="rId3"/>
              </a:rPr>
              <a:t>Linné</a:t>
            </a:r>
            <a:r>
              <a:rPr lang="da-DK"/>
              <a:t>, mens det vel nok mest udbredte, omfattende fem racer: kaukasoider, mongoloider, negroider, australoider og indfødte amerikanere, blev udviklet af den tyske naturforsker Johann Friederich Blumenbach (1752-1840).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/>
              <a:t>Med den indsigt, man har opnået i den moderne populationsbiologi, er det svært at argumentere for eksistensen af menneskeracer. Der er snarere tale om gradvise overgange mellem forskellige populationer, et variationsmønster, som bedst kan betegnes </a:t>
            </a:r>
            <a:r>
              <a:rPr lang="da-DK" u="sng">
                <a:solidFill>
                  <a:schemeClr val="hlink"/>
                </a:solidFill>
                <a:hlinkClick r:id="rId4"/>
              </a:rPr>
              <a:t>kliner</a:t>
            </a:r>
            <a:r>
              <a:rPr lang="da-DK"/>
              <a:t>. Der er tale om en geografisk struktureret variation, både morfologisk og genetisk, som kan forklares dels med tilpasning til fx klimaforhold, dels ved tilfældig sammensætning af genetisk variation ved såkaldt </a:t>
            </a:r>
            <a:r>
              <a:rPr lang="da-DK" u="sng">
                <a:solidFill>
                  <a:schemeClr val="hlink"/>
                </a:solidFill>
                <a:hlinkClick r:id="rId5"/>
              </a:rPr>
              <a:t>genetisk drift</a:t>
            </a:r>
            <a:r>
              <a:rPr lang="da-DK"/>
              <a:t>.</a:t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/>
              <a:t>Pga. globalisering og øget mobilitet opblandes gener, som før var isolerede i små populationer med unikke egenskaber og tilpasninger til særlige miljøer.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/>
              <a:t>Man kan ikke komme et kontinuum i diskrete kasser!</a:t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da-DK"/>
              <a:t>Svar er taget fra s. 28 i Biologi til tiden (BTT)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da-DK"/>
              <a:t>Aktin, myosin, keratin, kollagen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da-DK"/>
              <a:t>Fordøjelsesenzymer som spytamylase, pepsin, bugspytamylase, peptidase, lipase, maltase; DNA-polymerase og respirationsenzymer. Proteaser som bromelin og actinidin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da-DK"/>
              <a:t>Glukosetransportmolekyler i cellemembranerne, hæmoglobin i blodet, proteiner som fragter steroidhormoner rundt i blodet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da-DK"/>
              <a:t>Immunoglobuliner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da-DK"/>
              <a:t>Insulin, glukagon FSH, LH</a:t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/>
              <a:t>Undtagelser fra reglen: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da-DK"/>
              <a:t>Røde blodceller har ingen cellekerne og derfor heller ingen kromosomer.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da-DK"/>
              <a:t>Blodplader har heller ingen kromosomer.</a:t>
            </a:r>
            <a:endParaRPr/>
          </a:p>
        </p:txBody>
      </p:sp>
      <p:sp>
        <p:nvSpPr>
          <p:cNvPr id="202" name="Google Shape;2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indholdsobjek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un tite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snitsoverskrift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 indholdsobjekter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hold med billedteks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ede med billedteks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lodret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ret titel og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-D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7.jpg"/><Relationship Id="rId6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google.dk/url?sa=i&amp;rct=j&amp;q=&amp;esrc=s&amp;source=images&amp;cd=&amp;cad=rja&amp;uact=8&amp;ved=2ahUKEwiexNPakNDZAhWHjywKHa5gD-cQjRx6BAgAEAY&amp;url=http%3A%2F%2Fwww.martinadorff.com%2F&amp;psig=AOvVaw101ifwKN3b9wHB-0lBe0Vg&amp;ust=1520165678549758" TargetMode="External"/><Relationship Id="rId4" Type="http://schemas.openxmlformats.org/officeDocument/2006/relationships/image" Target="../media/image13.jp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 rot="-1538801">
            <a:off x="3330719" y="2190747"/>
            <a:ext cx="4929803" cy="139980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b="1" lang="da-DK">
                <a:solidFill>
                  <a:srgbClr val="FF0000"/>
                </a:solidFill>
              </a:rPr>
              <a:t>4 Arv og miljø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2236925" y="4989571"/>
            <a:ext cx="3034518" cy="124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 sz="2800"/>
              <a:t>Introduktion til DNA og genetik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4035"/>
            <a:ext cx="4365088" cy="240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19941" r="21706" t="0"/>
          <a:stretch/>
        </p:blipFill>
        <p:spPr>
          <a:xfrm>
            <a:off x="8574157" y="17522"/>
            <a:ext cx="3636897" cy="3505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0456" y="4139108"/>
            <a:ext cx="6790598" cy="271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121143"/>
            <a:ext cx="2160930" cy="373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Hvorfor ser vi ud, som vi gør?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De eukaryote celler, jeres krop består af, er resultatet af evolution – dvs. milliarder af års </a:t>
            </a:r>
            <a:r>
              <a:rPr lang="da-DK">
                <a:solidFill>
                  <a:srgbClr val="FF0000"/>
                </a:solidFill>
              </a:rPr>
              <a:t>tilfældig</a:t>
            </a:r>
            <a:r>
              <a:rPr lang="da-DK"/>
              <a:t> udvikling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Jeres krop er et sammensurium af </a:t>
            </a:r>
            <a:r>
              <a:rPr lang="da-DK">
                <a:solidFill>
                  <a:srgbClr val="FF0000"/>
                </a:solidFill>
              </a:rPr>
              <a:t>”gamle” og ”nye” løsninger </a:t>
            </a:r>
            <a:r>
              <a:rPr lang="da-DK"/>
              <a:t>på problemerne: overlevelse og forplantning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da-DK">
                <a:solidFill>
                  <a:srgbClr val="FF0000"/>
                </a:solidFill>
              </a:rPr>
              <a:t>Jeres krop er i konstant forandring </a:t>
            </a:r>
            <a:r>
              <a:rPr lang="da-DK"/>
              <a:t>– alene mens I sidder og ser på dette dias, bliver tusinder af celler udskiftet i jeres krop!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Og kodet i jeres gener ligger </a:t>
            </a:r>
            <a:r>
              <a:rPr lang="da-DK">
                <a:solidFill>
                  <a:srgbClr val="FF0000"/>
                </a:solidFill>
              </a:rPr>
              <a:t>formålet: at videreføre slægten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 jeres børn bliver ikke tro kopier af jer…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– hvorfor egentlig ikke?!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Hvorfor er børn ikke tro kopier af forældrene?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Fordi mennesker (indtil videre) kun kan formere sig kønnet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Kønnet formering betyder, at der indgår to køn i forplantningen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Hos mennesket hedder hannerne mænd og hunnerne kvinder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Menneskets afkom (”unger”) hedder børn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Hvert køn bidrager med halvdelen af sit eget arvemateriale til barnet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Barnet arver således NOGET fra faderen og NOGET fra moderen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 barnet arver ikke DET HELE fra NOGEN af forældrene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Derfor kan det ikke blive en tro kopi, men en ny, unik kombination 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Barnet er en unik kombination af forældrenes arvemateriale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096000" y="2924211"/>
            <a:ext cx="5868266" cy="3284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Et britisk par fik i 2006 tveæggede tvillingepiger: Remee (hvid med blå øjne) og Kian (sort med mørke øjne).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Kvinden Kylie og manden Remi er begge børn af en sort far og en hvid mor.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Pigerne har hver sin unikke kombination af forældrenes arvemateriale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63863"/>
            <a:ext cx="5098243" cy="519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Menneskekroppen: genkendelig og variabel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Hvordan genkender man et menneske?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Hvad kendetegner arten </a:t>
            </a:r>
            <a:r>
              <a:rPr i="1" lang="da-DK"/>
              <a:t>Homo sapiens</a:t>
            </a:r>
            <a:r>
              <a:rPr lang="da-DK"/>
              <a:t>, ”det moderne menneske”?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Stil jer op efter højde - fra lav til høj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Stil jer op efter (naturlig) hårfarve – fra lys til mørk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Stil jer op efter tungelængde – fra kort til lang ☺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Hvorfor er alle mennesker ikke ens? </a:t>
            </a:r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7809" y="3112169"/>
            <a:ext cx="3394191" cy="374583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 rot="-1670742">
            <a:off x="7251031" y="5001126"/>
            <a:ext cx="2598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a-DK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Pga. arv &amp; miljø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7170821" y="4219074"/>
            <a:ext cx="3015916" cy="1780673"/>
          </a:xfrm>
          <a:custGeom>
            <a:rect b="b" l="l" r="r" t="t"/>
            <a:pathLst>
              <a:path extrusionOk="0" h="1780673" w="3015916">
                <a:moveTo>
                  <a:pt x="3015916" y="0"/>
                </a:moveTo>
                <a:cubicBezTo>
                  <a:pt x="2807369" y="64168"/>
                  <a:pt x="2597273" y="123505"/>
                  <a:pt x="2390274" y="192505"/>
                </a:cubicBezTo>
                <a:cubicBezTo>
                  <a:pt x="2371983" y="198602"/>
                  <a:pt x="2359766" y="216759"/>
                  <a:pt x="2342147" y="224589"/>
                </a:cubicBezTo>
                <a:cubicBezTo>
                  <a:pt x="2311242" y="238324"/>
                  <a:pt x="2245895" y="256673"/>
                  <a:pt x="2245895" y="256673"/>
                </a:cubicBezTo>
                <a:cubicBezTo>
                  <a:pt x="2235200" y="267368"/>
                  <a:pt x="2227339" y="281994"/>
                  <a:pt x="2213811" y="288758"/>
                </a:cubicBezTo>
                <a:cubicBezTo>
                  <a:pt x="2183562" y="303883"/>
                  <a:pt x="2149642" y="310147"/>
                  <a:pt x="2117558" y="320842"/>
                </a:cubicBezTo>
                <a:cubicBezTo>
                  <a:pt x="2101516" y="326189"/>
                  <a:pt x="2084557" y="329322"/>
                  <a:pt x="2069432" y="336884"/>
                </a:cubicBezTo>
                <a:cubicBezTo>
                  <a:pt x="2048042" y="347579"/>
                  <a:pt x="2027244" y="359548"/>
                  <a:pt x="2005263" y="368968"/>
                </a:cubicBezTo>
                <a:cubicBezTo>
                  <a:pt x="1908086" y="410615"/>
                  <a:pt x="2009846" y="350634"/>
                  <a:pt x="1876926" y="417094"/>
                </a:cubicBezTo>
                <a:cubicBezTo>
                  <a:pt x="1849038" y="431038"/>
                  <a:pt x="1824604" y="451277"/>
                  <a:pt x="1796716" y="465221"/>
                </a:cubicBezTo>
                <a:cubicBezTo>
                  <a:pt x="1760291" y="483434"/>
                  <a:pt x="1720846" y="495135"/>
                  <a:pt x="1684421" y="513347"/>
                </a:cubicBezTo>
                <a:cubicBezTo>
                  <a:pt x="1667176" y="521969"/>
                  <a:pt x="1653540" y="536809"/>
                  <a:pt x="1636295" y="545431"/>
                </a:cubicBezTo>
                <a:cubicBezTo>
                  <a:pt x="1621170" y="552993"/>
                  <a:pt x="1603711" y="554812"/>
                  <a:pt x="1588168" y="561473"/>
                </a:cubicBezTo>
                <a:cubicBezTo>
                  <a:pt x="1566187" y="570893"/>
                  <a:pt x="1543460" y="579658"/>
                  <a:pt x="1524000" y="593558"/>
                </a:cubicBezTo>
                <a:cubicBezTo>
                  <a:pt x="1505539" y="606745"/>
                  <a:pt x="1495706" y="630666"/>
                  <a:pt x="1475874" y="641684"/>
                </a:cubicBezTo>
                <a:cubicBezTo>
                  <a:pt x="1446310" y="658108"/>
                  <a:pt x="1411705" y="663073"/>
                  <a:pt x="1379621" y="673768"/>
                </a:cubicBezTo>
                <a:lnTo>
                  <a:pt x="1331495" y="689810"/>
                </a:lnTo>
                <a:lnTo>
                  <a:pt x="1283368" y="705852"/>
                </a:lnTo>
                <a:cubicBezTo>
                  <a:pt x="1218793" y="770429"/>
                  <a:pt x="1290594" y="709631"/>
                  <a:pt x="1187116" y="753979"/>
                </a:cubicBezTo>
                <a:cubicBezTo>
                  <a:pt x="1169395" y="761574"/>
                  <a:pt x="1156608" y="778233"/>
                  <a:pt x="1138990" y="786063"/>
                </a:cubicBezTo>
                <a:cubicBezTo>
                  <a:pt x="1108085" y="799798"/>
                  <a:pt x="1072986" y="803023"/>
                  <a:pt x="1042737" y="818147"/>
                </a:cubicBezTo>
                <a:cubicBezTo>
                  <a:pt x="985698" y="846666"/>
                  <a:pt x="948394" y="869099"/>
                  <a:pt x="882316" y="882315"/>
                </a:cubicBezTo>
                <a:cubicBezTo>
                  <a:pt x="836526" y="891473"/>
                  <a:pt x="783244" y="900808"/>
                  <a:pt x="737937" y="914400"/>
                </a:cubicBezTo>
                <a:cubicBezTo>
                  <a:pt x="705543" y="924118"/>
                  <a:pt x="673768" y="935789"/>
                  <a:pt x="641684" y="946484"/>
                </a:cubicBezTo>
                <a:cubicBezTo>
                  <a:pt x="625642" y="951831"/>
                  <a:pt x="607628" y="953146"/>
                  <a:pt x="593558" y="962526"/>
                </a:cubicBezTo>
                <a:cubicBezTo>
                  <a:pt x="525534" y="1007875"/>
                  <a:pt x="562677" y="985988"/>
                  <a:pt x="481263" y="1026694"/>
                </a:cubicBezTo>
                <a:cubicBezTo>
                  <a:pt x="470568" y="1037389"/>
                  <a:pt x="462148" y="1050997"/>
                  <a:pt x="449179" y="1058779"/>
                </a:cubicBezTo>
                <a:cubicBezTo>
                  <a:pt x="434679" y="1067479"/>
                  <a:pt x="416596" y="1068160"/>
                  <a:pt x="401053" y="1074821"/>
                </a:cubicBezTo>
                <a:cubicBezTo>
                  <a:pt x="379072" y="1084241"/>
                  <a:pt x="357647" y="1095040"/>
                  <a:pt x="336884" y="1106905"/>
                </a:cubicBezTo>
                <a:cubicBezTo>
                  <a:pt x="249808" y="1156662"/>
                  <a:pt x="328870" y="1125618"/>
                  <a:pt x="240632" y="1155031"/>
                </a:cubicBezTo>
                <a:cubicBezTo>
                  <a:pt x="229937" y="1165726"/>
                  <a:pt x="217995" y="1175305"/>
                  <a:pt x="208547" y="1187115"/>
                </a:cubicBezTo>
                <a:cubicBezTo>
                  <a:pt x="196503" y="1202170"/>
                  <a:pt x="190096" y="1221609"/>
                  <a:pt x="176463" y="1235242"/>
                </a:cubicBezTo>
                <a:cubicBezTo>
                  <a:pt x="157557" y="1254148"/>
                  <a:pt x="133684" y="1267326"/>
                  <a:pt x="112295" y="1283368"/>
                </a:cubicBezTo>
                <a:cubicBezTo>
                  <a:pt x="101600" y="1304758"/>
                  <a:pt x="93476" y="1327639"/>
                  <a:pt x="80211" y="1347537"/>
                </a:cubicBezTo>
                <a:cubicBezTo>
                  <a:pt x="71821" y="1360122"/>
                  <a:pt x="55908" y="1366652"/>
                  <a:pt x="48126" y="1379621"/>
                </a:cubicBezTo>
                <a:cubicBezTo>
                  <a:pt x="39426" y="1394121"/>
                  <a:pt x="39646" y="1412622"/>
                  <a:pt x="32084" y="1427747"/>
                </a:cubicBezTo>
                <a:cubicBezTo>
                  <a:pt x="23462" y="1444992"/>
                  <a:pt x="10695" y="1459831"/>
                  <a:pt x="0" y="1475873"/>
                </a:cubicBezTo>
                <a:cubicBezTo>
                  <a:pt x="5347" y="1545389"/>
                  <a:pt x="-3112" y="1617382"/>
                  <a:pt x="16042" y="1684421"/>
                </a:cubicBezTo>
                <a:cubicBezTo>
                  <a:pt x="20687" y="1700680"/>
                  <a:pt x="49668" y="1691763"/>
                  <a:pt x="64168" y="1700463"/>
                </a:cubicBezTo>
                <a:cubicBezTo>
                  <a:pt x="77137" y="1708245"/>
                  <a:pt x="82725" y="1725783"/>
                  <a:pt x="96253" y="1732547"/>
                </a:cubicBezTo>
                <a:cubicBezTo>
                  <a:pt x="126502" y="1747671"/>
                  <a:pt x="160421" y="1753936"/>
                  <a:pt x="192505" y="1764631"/>
                </a:cubicBezTo>
                <a:lnTo>
                  <a:pt x="240632" y="1780673"/>
                </a:lnTo>
                <a:cubicBezTo>
                  <a:pt x="385011" y="1775326"/>
                  <a:pt x="529590" y="1773933"/>
                  <a:pt x="673768" y="1764631"/>
                </a:cubicBezTo>
                <a:cubicBezTo>
                  <a:pt x="683167" y="1764025"/>
                  <a:pt x="771608" y="1740577"/>
                  <a:pt x="786063" y="1732547"/>
                </a:cubicBezTo>
                <a:cubicBezTo>
                  <a:pt x="819771" y="1713820"/>
                  <a:pt x="845734" y="1680573"/>
                  <a:pt x="882316" y="1668379"/>
                </a:cubicBezTo>
                <a:cubicBezTo>
                  <a:pt x="898358" y="1663032"/>
                  <a:pt x="914128" y="1656786"/>
                  <a:pt x="930442" y="1652337"/>
                </a:cubicBezTo>
                <a:cubicBezTo>
                  <a:pt x="972984" y="1640735"/>
                  <a:pt x="1019339" y="1639972"/>
                  <a:pt x="1058779" y="1620252"/>
                </a:cubicBezTo>
                <a:cubicBezTo>
                  <a:pt x="1138072" y="1580606"/>
                  <a:pt x="1100260" y="1595730"/>
                  <a:pt x="1171074" y="1572126"/>
                </a:cubicBezTo>
                <a:cubicBezTo>
                  <a:pt x="1309001" y="1480175"/>
                  <a:pt x="1134488" y="1590419"/>
                  <a:pt x="1267326" y="1524000"/>
                </a:cubicBezTo>
                <a:cubicBezTo>
                  <a:pt x="1284571" y="1515377"/>
                  <a:pt x="1297731" y="1499510"/>
                  <a:pt x="1315453" y="1491915"/>
                </a:cubicBezTo>
                <a:cubicBezTo>
                  <a:pt x="1335718" y="1483230"/>
                  <a:pt x="1358503" y="1482208"/>
                  <a:pt x="1379621" y="1475873"/>
                </a:cubicBezTo>
                <a:cubicBezTo>
                  <a:pt x="1412015" y="1466155"/>
                  <a:pt x="1475874" y="1443789"/>
                  <a:pt x="1475874" y="1443789"/>
                </a:cubicBezTo>
                <a:cubicBezTo>
                  <a:pt x="1491916" y="1433094"/>
                  <a:pt x="1506755" y="1420327"/>
                  <a:pt x="1524000" y="1411705"/>
                </a:cubicBezTo>
                <a:cubicBezTo>
                  <a:pt x="1539125" y="1404143"/>
                  <a:pt x="1557626" y="1404363"/>
                  <a:pt x="1572126" y="1395663"/>
                </a:cubicBezTo>
                <a:cubicBezTo>
                  <a:pt x="1585095" y="1387881"/>
                  <a:pt x="1590683" y="1370343"/>
                  <a:pt x="1604211" y="1363579"/>
                </a:cubicBezTo>
                <a:cubicBezTo>
                  <a:pt x="1634460" y="1348454"/>
                  <a:pt x="1672323" y="1350253"/>
                  <a:pt x="1700463" y="1331494"/>
                </a:cubicBezTo>
                <a:cubicBezTo>
                  <a:pt x="1776730" y="1280651"/>
                  <a:pt x="1730299" y="1305507"/>
                  <a:pt x="1844842" y="1267326"/>
                </a:cubicBezTo>
                <a:cubicBezTo>
                  <a:pt x="2020345" y="1208825"/>
                  <a:pt x="1754519" y="1302124"/>
                  <a:pt x="1941095" y="1219200"/>
                </a:cubicBezTo>
                <a:cubicBezTo>
                  <a:pt x="1972000" y="1205464"/>
                  <a:pt x="2037347" y="1187115"/>
                  <a:pt x="2037347" y="1187115"/>
                </a:cubicBezTo>
                <a:cubicBezTo>
                  <a:pt x="2130700" y="1093765"/>
                  <a:pt x="1996125" y="1224141"/>
                  <a:pt x="2117558" y="1122947"/>
                </a:cubicBezTo>
                <a:cubicBezTo>
                  <a:pt x="2134986" y="1108423"/>
                  <a:pt x="2148255" y="1089345"/>
                  <a:pt x="2165684" y="1074821"/>
                </a:cubicBezTo>
                <a:cubicBezTo>
                  <a:pt x="2180496" y="1062478"/>
                  <a:pt x="2198756" y="1054781"/>
                  <a:pt x="2213811" y="1042737"/>
                </a:cubicBezTo>
                <a:cubicBezTo>
                  <a:pt x="2328112" y="951296"/>
                  <a:pt x="2145884" y="1077326"/>
                  <a:pt x="2294021" y="978568"/>
                </a:cubicBezTo>
                <a:lnTo>
                  <a:pt x="2358190" y="882315"/>
                </a:lnTo>
                <a:cubicBezTo>
                  <a:pt x="2389737" y="834994"/>
                  <a:pt x="2392080" y="824663"/>
                  <a:pt x="2438400" y="786063"/>
                </a:cubicBezTo>
                <a:cubicBezTo>
                  <a:pt x="2453211" y="773720"/>
                  <a:pt x="2471471" y="766023"/>
                  <a:pt x="2486526" y="753979"/>
                </a:cubicBezTo>
                <a:cubicBezTo>
                  <a:pt x="2565905" y="690475"/>
                  <a:pt x="2467313" y="757150"/>
                  <a:pt x="2550695" y="673768"/>
                </a:cubicBezTo>
                <a:cubicBezTo>
                  <a:pt x="2564328" y="660135"/>
                  <a:pt x="2582779" y="652379"/>
                  <a:pt x="2598821" y="641684"/>
                </a:cubicBezTo>
                <a:cubicBezTo>
                  <a:pt x="2609516" y="625642"/>
                  <a:pt x="2618861" y="608613"/>
                  <a:pt x="2630905" y="593558"/>
                </a:cubicBezTo>
                <a:cubicBezTo>
                  <a:pt x="2670695" y="543821"/>
                  <a:pt x="2662157" y="579181"/>
                  <a:pt x="2695074" y="513347"/>
                </a:cubicBezTo>
                <a:cubicBezTo>
                  <a:pt x="2702636" y="498222"/>
                  <a:pt x="2701736" y="479291"/>
                  <a:pt x="2711116" y="465221"/>
                </a:cubicBezTo>
                <a:cubicBezTo>
                  <a:pt x="2782072" y="358786"/>
                  <a:pt x="2738842" y="473936"/>
                  <a:pt x="2791326" y="368968"/>
                </a:cubicBezTo>
                <a:cubicBezTo>
                  <a:pt x="2857742" y="236136"/>
                  <a:pt x="2747504" y="410638"/>
                  <a:pt x="2839453" y="272715"/>
                </a:cubicBezTo>
                <a:cubicBezTo>
                  <a:pt x="2844800" y="251326"/>
                  <a:pt x="2849438" y="229746"/>
                  <a:pt x="2855495" y="208547"/>
                </a:cubicBezTo>
                <a:cubicBezTo>
                  <a:pt x="2865933" y="172015"/>
                  <a:pt x="2875499" y="140416"/>
                  <a:pt x="2903621" y="112294"/>
                </a:cubicBezTo>
                <a:cubicBezTo>
                  <a:pt x="2956196" y="59718"/>
                  <a:pt x="2951747" y="104351"/>
                  <a:pt x="2951747" y="64168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Menneskekroppen: genkendelig og variabel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36100" y="1690687"/>
            <a:ext cx="4670473" cy="480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/>
              <a:t>Her ses fem ”menneskeracer”: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/>
              <a:t>1) mongoloid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/>
              <a:t>2) negroid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/>
              <a:t>3) kaukasoid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/>
              <a:t>4) australoid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a-DK"/>
              <a:t>5) indfødt amerikaner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Hvad adskiller dem?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Hvad har de til fælles?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4744" y="1690687"/>
            <a:ext cx="6687256" cy="514600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6047874" y="3354350"/>
            <a:ext cx="529390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783179" y="6045413"/>
            <a:ext cx="529390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8141368" y="4844147"/>
            <a:ext cx="529390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11194426" y="3122285"/>
            <a:ext cx="529390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11353800" y="6025768"/>
            <a:ext cx="529390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”Menneskeracer” er et forældet begreb</a:t>
            </a:r>
            <a:endParaRPr/>
          </a:p>
        </p:txBody>
      </p:sp>
      <p:pic>
        <p:nvPicPr>
          <p:cNvPr descr="Billedresultat for mixed race human" id="142" name="Google Shape;142;p19">
            <a:hlinkClick r:id="rId3"/>
          </p:cNvPr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7108" y="2001409"/>
            <a:ext cx="7024892" cy="3951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5">
            <a:alphaModFix/>
          </a:blip>
          <a:srcRect b="-1" l="0" r="0" t="392"/>
          <a:stretch/>
        </p:blipFill>
        <p:spPr>
          <a:xfrm>
            <a:off x="0" y="2121725"/>
            <a:ext cx="4934269" cy="3710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da-DK">
                <a:solidFill>
                  <a:srgbClr val="FF0000"/>
                </a:solidFill>
              </a:rPr>
              <a:t>Opsummering 1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”Det moderne menneske” er én af mange nulevende arter på Jorden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Mennesket er ”programmeret” til at forplante sig og videreføre slægten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Mennesket formerer sig kønnet, så afkommet er ikke tro kopier af forældrene, men unikke kombinationer af forældrenes arvemateriale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Mennesker kan genkendes som tobenede pattedyr med store hjerner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Mennesker er ikke helt ens – der er fx variation i højde og hårfarve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Man taler ikke længere om ”menneskeracer”.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6223765" y="185396"/>
            <a:ext cx="460064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da-DK" sz="3960"/>
              <a:t>Arv og miljø – lad os begynde med </a:t>
            </a:r>
            <a:r>
              <a:rPr b="1" lang="da-DK" sz="3960">
                <a:solidFill>
                  <a:srgbClr val="FF0000"/>
                </a:solidFill>
              </a:rPr>
              <a:t>arv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6223765" y="1937920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Hver kropscelle indeholder alle ”opskrifterne” på de proteiner, kroppen består af.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De fleste af ”opskrifterne” ligger godt beskyttet i cellekernen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”Opskrifterne” er fordelt på kromosomerne, som består af molekylet DNA og proteiner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”Opskrifterne” er skrevet i kode med bogstaverne A, C, G og T.</a:t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53" y="185396"/>
            <a:ext cx="5408905" cy="6487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8800" y="2897621"/>
            <a:ext cx="4438400" cy="234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Gener = ”opskrifter” på proteiner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Mennesket har ca. 50.000 forskellige proteiner i kroppen (BTT s. 28)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Hvert protein har sin særlige funktion (</a:t>
            </a:r>
            <a:r>
              <a:rPr lang="da-DK">
                <a:solidFill>
                  <a:srgbClr val="FF0000"/>
                </a:solidFill>
              </a:rPr>
              <a:t>giv eksempler</a:t>
            </a:r>
            <a:r>
              <a:rPr lang="da-DK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Vævsproteiner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Enzymer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Transportproteiner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Antistoffer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Hormoner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Proteiner består af kæder af 20 forskellige aminosyrer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Genet beskriver, hvilke aminosyrer der skal sidde hvor i proteinet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Cellekernens indhold - arvematerialet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292769" y="2083432"/>
            <a:ext cx="48246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Her ses en </a:t>
            </a:r>
            <a:r>
              <a:rPr lang="da-DK" sz="2590">
                <a:solidFill>
                  <a:srgbClr val="FF0000"/>
                </a:solidFill>
              </a:rPr>
              <a:t>karyotype</a:t>
            </a:r>
            <a:endParaRPr sz="259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Menneskets kropsceller indeholder i alt </a:t>
            </a:r>
            <a:r>
              <a:rPr lang="da-DK" sz="2590">
                <a:solidFill>
                  <a:srgbClr val="FF0000"/>
                </a:solidFill>
              </a:rPr>
              <a:t>46 kromosomer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Der er </a:t>
            </a:r>
            <a:r>
              <a:rPr lang="da-DK" sz="2590">
                <a:solidFill>
                  <a:srgbClr val="FF0000"/>
                </a:solidFill>
              </a:rPr>
              <a:t>23 par </a:t>
            </a:r>
            <a:r>
              <a:rPr lang="da-DK" sz="2590"/>
              <a:t>kromosomer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Nr. 1-22 hedder </a:t>
            </a:r>
            <a:r>
              <a:rPr lang="da-DK" sz="2590">
                <a:solidFill>
                  <a:srgbClr val="FF0000"/>
                </a:solidFill>
              </a:rPr>
              <a:t>autosomer</a:t>
            </a:r>
            <a:endParaRPr sz="259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Nr. 23 hedder </a:t>
            </a:r>
            <a:r>
              <a:rPr lang="da-DK" sz="2590">
                <a:solidFill>
                  <a:srgbClr val="FF0000"/>
                </a:solidFill>
              </a:rPr>
              <a:t>kønskromosomer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Nr. 1-22 er </a:t>
            </a:r>
            <a:r>
              <a:rPr lang="da-DK" sz="2590">
                <a:solidFill>
                  <a:srgbClr val="FF0000"/>
                </a:solidFill>
              </a:rPr>
              <a:t>homologe</a:t>
            </a:r>
            <a:r>
              <a:rPr lang="da-DK" sz="2590"/>
              <a:t> (=ens) hos begge køn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da-DK" sz="2590"/>
              <a:t>Nr. 23 er homologe hos kvinden (</a:t>
            </a:r>
            <a:r>
              <a:rPr lang="da-DK" sz="2590">
                <a:solidFill>
                  <a:srgbClr val="FF0000"/>
                </a:solidFill>
              </a:rPr>
              <a:t>XX</a:t>
            </a:r>
            <a:r>
              <a:rPr lang="da-DK" sz="2590"/>
              <a:t>), men </a:t>
            </a:r>
            <a:r>
              <a:rPr lang="da-DK" sz="2590">
                <a:solidFill>
                  <a:srgbClr val="FF0000"/>
                </a:solidFill>
              </a:rPr>
              <a:t>heterologe</a:t>
            </a:r>
            <a:r>
              <a:rPr lang="da-DK" sz="2590"/>
              <a:t> (=uens) hos manden (</a:t>
            </a:r>
            <a:r>
              <a:rPr lang="da-DK" sz="2590">
                <a:solidFill>
                  <a:srgbClr val="FF0000"/>
                </a:solidFill>
              </a:rPr>
              <a:t>XY</a:t>
            </a:r>
            <a:r>
              <a:rPr lang="da-DK" sz="2590"/>
              <a:t>)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2232" y="1690688"/>
            <a:ext cx="6769768" cy="513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/>
          <p:nvPr/>
        </p:nvSpPr>
        <p:spPr>
          <a:xfrm>
            <a:off x="10026316" y="5454316"/>
            <a:ext cx="2037347" cy="12448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3"/>
          <p:cNvCxnSpPr/>
          <p:nvPr/>
        </p:nvCxnSpPr>
        <p:spPr>
          <a:xfrm flipH="1" rot="10800000">
            <a:off x="4924926" y="2887579"/>
            <a:ext cx="673769" cy="14437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p23"/>
          <p:cNvCxnSpPr/>
          <p:nvPr/>
        </p:nvCxnSpPr>
        <p:spPr>
          <a:xfrm flipH="1" rot="10800000">
            <a:off x="4924926" y="3031958"/>
            <a:ext cx="1363579" cy="802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5" name="Google Shape;175;p23"/>
          <p:cNvSpPr/>
          <p:nvPr/>
        </p:nvSpPr>
        <p:spPr>
          <a:xfrm>
            <a:off x="9561095" y="2083432"/>
            <a:ext cx="1106905" cy="145385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9641306" y="3172392"/>
            <a:ext cx="11069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 nr. 4</a:t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5510463" y="4561440"/>
            <a:ext cx="1106905" cy="108491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5454316" y="5254261"/>
            <a:ext cx="12833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 nr. 13</a:t>
            </a:r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10712116" y="5421761"/>
            <a:ext cx="12833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 nr. 23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6545178" y="284914"/>
            <a:ext cx="511342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da-DK" sz="3960"/>
              <a:t>Kønsceller (sæd og æg) har kun 23 kromosomer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6697577" y="2098341"/>
            <a:ext cx="480862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I både mandens og kvindens kropsceller er der 46 kromosomer (2 x 23 stk.)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I mandens testikler dannes sædceller (23 kromosomer)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I kvindens æggestokke dannes ægceller (23 kromosomer)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Når sæd- og ægcelle smelter sammen, fås igen 23 par!</a:t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6304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/>
          <p:nvPr/>
        </p:nvSpPr>
        <p:spPr>
          <a:xfrm>
            <a:off x="288063" y="2914650"/>
            <a:ext cx="750161" cy="43714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2667001" y="2697079"/>
            <a:ext cx="628650" cy="437149"/>
          </a:xfrm>
          <a:prstGeom prst="rect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5011651" y="2991852"/>
            <a:ext cx="750161" cy="437148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/>
        </p:nvPicPr>
        <p:blipFill rotWithShape="1">
          <a:blip r:embed="rId3">
            <a:alphaModFix/>
          </a:blip>
          <a:srcRect b="9635" l="9009" r="5406" t="12437"/>
          <a:stretch/>
        </p:blipFill>
        <p:spPr>
          <a:xfrm>
            <a:off x="9091863" y="1825625"/>
            <a:ext cx="3048000" cy="277528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da-DK"/>
              <a:t>Det er sædcellen, som afgør barnets køn!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Manden (XY) kan lave to hovedtyper af sædceller: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sædceller med kromosom nr. 1-22 plus kønskromosomet </a:t>
            </a:r>
            <a:r>
              <a:rPr b="1" lang="da-DK">
                <a:solidFill>
                  <a:srgbClr val="FF0000"/>
                </a:solidFill>
              </a:rPr>
              <a:t>X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sædceller med kromosom nr. 1-22 plus kønskromosomet </a:t>
            </a:r>
            <a:r>
              <a:rPr b="1" lang="da-DK">
                <a:solidFill>
                  <a:srgbClr val="0070C0"/>
                </a:solidFill>
              </a:rPr>
              <a:t>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Kvinden (XX) kan kun lave én hovedtype af ægceller: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a-DK"/>
              <a:t>ægcelle med kromosom nr. 1-22 plus kønskromosomet </a:t>
            </a:r>
            <a:r>
              <a:rPr b="1" lang="da-DK"/>
              <a:t>X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Det er derfor mandens sædcelle, som afgør barnets køn: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da-DK">
                <a:solidFill>
                  <a:srgbClr val="FF0000"/>
                </a:solidFill>
              </a:rPr>
              <a:t>Sædcelle med X =&gt; pige (</a:t>
            </a:r>
            <a:r>
              <a:rPr b="1" lang="da-DK"/>
              <a:t>X</a:t>
            </a:r>
            <a:r>
              <a:rPr b="1" lang="da-DK">
                <a:solidFill>
                  <a:srgbClr val="FF0000"/>
                </a:solidFill>
              </a:rPr>
              <a:t>X)</a:t>
            </a:r>
            <a:r>
              <a:rPr lang="da-DK"/>
              <a:t>, </a:t>
            </a:r>
            <a:r>
              <a:rPr b="1" lang="da-DK">
                <a:solidFill>
                  <a:srgbClr val="0070C0"/>
                </a:solidFill>
              </a:rPr>
              <a:t>sædcelle med Y =&gt; dreng (</a:t>
            </a:r>
            <a:r>
              <a:rPr b="1" lang="da-DK"/>
              <a:t>X</a:t>
            </a:r>
            <a:r>
              <a:rPr b="1" lang="da-DK">
                <a:solidFill>
                  <a:srgbClr val="0070C0"/>
                </a:solidFill>
              </a:rPr>
              <a:t>Y)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 rot="1390381">
            <a:off x="9817767" y="4840610"/>
            <a:ext cx="20854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a-DK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Male Power!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da-DK">
                <a:solidFill>
                  <a:srgbClr val="FF0000"/>
                </a:solidFill>
              </a:rPr>
              <a:t>Opsummering 2</a:t>
            </a:r>
            <a:endParaRPr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Menneskets arvemateriale ligger i cellekernen – i ALLE celler!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Arvematerialet består af gener, der er ”opskrifter” på proteiner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Der er ca. 50.000 forskellige proteiner i menneskekroppen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Arvematerialet er fordelt på 46 kromosomer (23 par)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Æg- og sædceller har kun 23 kromosomer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Kønskromosomerne afgør barnets køn: XX = pige, XY = dreng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a-DK"/>
              <a:t>Et billede af cellens kromosomer (farvet og ordnet efter størrelse) kaldes en karyotype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64661"/>
            <a:ext cx="12192000" cy="69121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da-DK">
                <a:solidFill>
                  <a:srgbClr val="FF0000"/>
                </a:solidFill>
              </a:rPr>
              <a:t>Spørgsmål?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