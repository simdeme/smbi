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93221-234D-45D0-972C-8C3D37C55F10}" type="datetimeFigureOut">
              <a:rPr lang="da-DK" smtClean="0"/>
              <a:t>03-12-2017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60D1F-E442-481E-9A47-3733536FDE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0031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smtClean="0"/>
              <a:t>Forklar</a:t>
            </a:r>
            <a:r>
              <a:rPr lang="da-DK" baseline="0" dirty="0" smtClean="0"/>
              <a:t> hvad </a:t>
            </a:r>
            <a:r>
              <a:rPr lang="da-DK" baseline="0" dirty="0" err="1" smtClean="0"/>
              <a:t>homeostase</a:t>
            </a:r>
            <a:r>
              <a:rPr lang="da-DK" baseline="0" dirty="0" smtClean="0"/>
              <a:t> betyder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060D1F-E442-481E-9A47-3733536FDE17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48681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060D1F-E442-481E-9A47-3733536FDE17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01680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smtClean="0"/>
              <a:t>Åndedrag pr minut: Lad eleverne prøve. 12-16 gange pr minut.</a:t>
            </a:r>
          </a:p>
          <a:p>
            <a:r>
              <a:rPr lang="da-DK" dirty="0" smtClean="0"/>
              <a:t>Hvor meget</a:t>
            </a:r>
            <a:r>
              <a:rPr lang="da-DK" baseline="0" dirty="0" smtClean="0"/>
              <a:t> luft pr indånding: ca. ½ L</a:t>
            </a:r>
          </a:p>
          <a:p>
            <a:r>
              <a:rPr lang="da-DK" baseline="0" dirty="0" smtClean="0"/>
              <a:t>Hvad kan det øges til? 20-30 * pr minut, 4-6 L pr åndedrag </a:t>
            </a:r>
            <a:r>
              <a:rPr lang="da-DK" baseline="0" dirty="0" smtClean="0">
                <a:sym typeface="Wingdings" panose="05000000000000000000" pitchFamily="2" charset="2"/>
              </a:rPr>
              <a:t> 80-180 L/minut (afhængigt af størrelse og kondition)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060D1F-E442-481E-9A47-3733536FDE17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32301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smtClean="0"/>
              <a:t>Hjerteslag</a:t>
            </a:r>
            <a:r>
              <a:rPr lang="da-DK" baseline="0" dirty="0" smtClean="0"/>
              <a:t> pr minut: Lad eleverne måle puls. Ca. 60 * pr minut. Dvs. over 80.000 gange på et døgn.</a:t>
            </a:r>
          </a:p>
          <a:p>
            <a:r>
              <a:rPr lang="da-DK" baseline="0" dirty="0" smtClean="0"/>
              <a:t>Blod pr hjerteslag: 50-80 </a:t>
            </a:r>
            <a:r>
              <a:rPr lang="da-DK" baseline="0" dirty="0" err="1" smtClean="0"/>
              <a:t>mL</a:t>
            </a:r>
            <a:r>
              <a:rPr lang="da-DK" baseline="0" dirty="0" smtClean="0"/>
              <a:t> blod.</a:t>
            </a:r>
          </a:p>
          <a:p>
            <a:r>
              <a:rPr lang="da-DK" baseline="0" dirty="0" smtClean="0"/>
              <a:t>Øges ved arbejde: Maxpuls 220 – alder * slagvolumen max 150 </a:t>
            </a:r>
            <a:r>
              <a:rPr lang="da-DK" baseline="0" dirty="0" err="1" smtClean="0"/>
              <a:t>mL</a:t>
            </a:r>
            <a:r>
              <a:rPr lang="da-DK" baseline="0" dirty="0" smtClean="0"/>
              <a:t> pr slag </a:t>
            </a:r>
            <a:r>
              <a:rPr lang="da-DK" baseline="0" dirty="0" smtClean="0">
                <a:sym typeface="Wingdings" panose="05000000000000000000" pitchFamily="2" charset="2"/>
              </a:rPr>
              <a:t> 30 L blod pr minut.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060D1F-E442-481E-9A47-3733536FDE17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5315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smtClean="0"/>
              <a:t>Vidt forskellige strategier, men kombinationen er en succes </a:t>
            </a:r>
            <a:r>
              <a:rPr lang="da-DK" dirty="0" smtClean="0">
                <a:sym typeface="Wingdings" panose="05000000000000000000" pitchFamily="2" charset="2"/>
              </a:rPr>
              <a:t></a:t>
            </a:r>
          </a:p>
          <a:p>
            <a:r>
              <a:rPr lang="da-DK" dirty="0" smtClean="0">
                <a:sym typeface="Wingdings" panose="05000000000000000000" pitchFamily="2" charset="2"/>
              </a:rPr>
              <a:t>Vi kommer nærmere ind på</a:t>
            </a:r>
            <a:r>
              <a:rPr lang="da-DK" baseline="0" dirty="0" smtClean="0">
                <a:sym typeface="Wingdings" panose="05000000000000000000" pitchFamily="2" charset="2"/>
              </a:rPr>
              <a:t> opbygning i emnet sexologi senere.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060D1F-E442-481E-9A47-3733536FDE17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50225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smtClean="0"/>
              <a:t>Endnu et tegn på evolution: Naturen ”genbruger” så meget som muligt. Grunden</a:t>
            </a:r>
            <a:r>
              <a:rPr lang="da-DK" baseline="0" dirty="0" smtClean="0"/>
              <a:t> til kønsforskel er lagt, allerede når æg møder sædcelle: Indeholder sædcellen et X-kromosom eller et Y-kromosom? XX </a:t>
            </a:r>
            <a:r>
              <a:rPr lang="da-DK" baseline="0" dirty="0" smtClean="0">
                <a:sym typeface="Wingdings" panose="05000000000000000000" pitchFamily="2" charset="2"/>
              </a:rPr>
              <a:t> pigefoster, XY  drengefoster. Men de første 6 uger er de to køn identiske. Herefter kan man se forskel på de indre kønsorganer, men de ydre udvikler sig først forskelligt efter 12. uge (ca.)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060D1F-E442-481E-9A47-3733536FDE17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31657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smtClean="0"/>
              <a:t>Kompliceret system, som skal beskytte kroppen mod de 1000vis af bakterier og virus, der møder os. Når vi bliver syge, kæmpes en kamp mellem immunforsvar</a:t>
            </a:r>
            <a:r>
              <a:rPr lang="da-DK" baseline="0" dirty="0" smtClean="0"/>
              <a:t> og indtrængende fjende. Feber er et symptom på, at denne kamp finder sted.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060D1F-E442-481E-9A47-3733536FDE17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42900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smtClean="0"/>
              <a:t>Det er det organsystem, vi kommer til at arbejde med, så opbygningen gennemgås ikke her. I stedet sammenligning mellem forskellige </a:t>
            </a:r>
            <a:r>
              <a:rPr lang="da-DK" dirty="0" err="1" smtClean="0"/>
              <a:t>vertebrater</a:t>
            </a:r>
            <a:r>
              <a:rPr lang="da-DK" dirty="0" smtClean="0"/>
              <a:t>. Hos alle et rør – fra mund til anus. Opgave: At</a:t>
            </a:r>
            <a:r>
              <a:rPr lang="da-DK" baseline="0" dirty="0" smtClean="0"/>
              <a:t> findele vores mad til så små molekyler, at de kan passere tarmens celler og bevæge sig over i kroppen (tarm </a:t>
            </a:r>
            <a:r>
              <a:rPr lang="da-DK" baseline="0" dirty="0" smtClean="0">
                <a:sym typeface="Wingdings" panose="05000000000000000000" pitchFamily="2" charset="2"/>
              </a:rPr>
              <a:t> blod  celler).  </a:t>
            </a:r>
          </a:p>
          <a:p>
            <a:r>
              <a:rPr lang="da-DK" baseline="0" dirty="0" smtClean="0">
                <a:sym typeface="Wingdings" panose="05000000000000000000" pitchFamily="2" charset="2"/>
              </a:rPr>
              <a:t>Jo længere, jo større effektivitet. </a:t>
            </a:r>
          </a:p>
          <a:p>
            <a:r>
              <a:rPr lang="da-DK" baseline="0" dirty="0" smtClean="0">
                <a:sym typeface="Wingdings" panose="05000000000000000000" pitchFamily="2" charset="2"/>
              </a:rPr>
              <a:t>B = </a:t>
            </a:r>
            <a:r>
              <a:rPr lang="da-DK" baseline="0" dirty="0" err="1" smtClean="0">
                <a:sym typeface="Wingdings" panose="05000000000000000000" pitchFamily="2" charset="2"/>
              </a:rPr>
              <a:t>bladder</a:t>
            </a:r>
            <a:r>
              <a:rPr lang="da-DK" baseline="0" dirty="0" smtClean="0">
                <a:sym typeface="Wingdings" panose="05000000000000000000" pitchFamily="2" charset="2"/>
              </a:rPr>
              <a:t>/blære, </a:t>
            </a:r>
            <a:r>
              <a:rPr lang="da-DK" b="1" baseline="0" dirty="0" smtClean="0">
                <a:sym typeface="Wingdings" panose="05000000000000000000" pitchFamily="2" charset="2"/>
              </a:rPr>
              <a:t>C = </a:t>
            </a:r>
            <a:r>
              <a:rPr lang="da-DK" b="1" baseline="0" dirty="0" err="1" smtClean="0">
                <a:sym typeface="Wingdings" panose="05000000000000000000" pitchFamily="2" charset="2"/>
              </a:rPr>
              <a:t>cecum</a:t>
            </a:r>
            <a:r>
              <a:rPr lang="da-DK" b="1" baseline="0" dirty="0" smtClean="0">
                <a:sym typeface="Wingdings" panose="05000000000000000000" pitchFamily="2" charset="2"/>
              </a:rPr>
              <a:t>/blindtarm</a:t>
            </a:r>
            <a:r>
              <a:rPr lang="da-DK" baseline="0" dirty="0" smtClean="0">
                <a:sym typeface="Wingdings" panose="05000000000000000000" pitchFamily="2" charset="2"/>
              </a:rPr>
              <a:t>, </a:t>
            </a:r>
            <a:r>
              <a:rPr lang="da-DK" baseline="0" dirty="0" err="1" smtClean="0">
                <a:sym typeface="Wingdings" panose="05000000000000000000" pitchFamily="2" charset="2"/>
              </a:rPr>
              <a:t>Cr</a:t>
            </a:r>
            <a:r>
              <a:rPr lang="da-DK" baseline="0" dirty="0" smtClean="0">
                <a:sym typeface="Wingdings" panose="05000000000000000000" pitchFamily="2" charset="2"/>
              </a:rPr>
              <a:t> = </a:t>
            </a:r>
            <a:r>
              <a:rPr lang="da-DK" baseline="0" dirty="0" err="1" smtClean="0">
                <a:sym typeface="Wingdings" panose="05000000000000000000" pitchFamily="2" charset="2"/>
              </a:rPr>
              <a:t>crop</a:t>
            </a:r>
            <a:r>
              <a:rPr lang="da-DK" baseline="0" dirty="0" smtClean="0">
                <a:sym typeface="Wingdings" panose="05000000000000000000" pitchFamily="2" charset="2"/>
              </a:rPr>
              <a:t>/kro (fugl), </a:t>
            </a:r>
            <a:r>
              <a:rPr lang="da-DK" b="1" baseline="0" dirty="0" smtClean="0">
                <a:sym typeface="Wingdings" panose="05000000000000000000" pitchFamily="2" charset="2"/>
              </a:rPr>
              <a:t>E = </a:t>
            </a:r>
            <a:r>
              <a:rPr lang="da-DK" b="1" baseline="0" dirty="0" err="1" smtClean="0">
                <a:sym typeface="Wingdings" panose="05000000000000000000" pitchFamily="2" charset="2"/>
              </a:rPr>
              <a:t>esophagus</a:t>
            </a:r>
            <a:r>
              <a:rPr lang="da-DK" b="1" baseline="0" dirty="0" smtClean="0">
                <a:sym typeface="Wingdings" panose="05000000000000000000" pitchFamily="2" charset="2"/>
              </a:rPr>
              <a:t>/spiserør</a:t>
            </a:r>
            <a:r>
              <a:rPr lang="da-DK" baseline="0" dirty="0" smtClean="0">
                <a:sym typeface="Wingdings" panose="05000000000000000000" pitchFamily="2" charset="2"/>
              </a:rPr>
              <a:t>, </a:t>
            </a:r>
            <a:r>
              <a:rPr lang="da-DK" b="1" baseline="0" dirty="0" smtClean="0">
                <a:sym typeface="Wingdings" panose="05000000000000000000" pitchFamily="2" charset="2"/>
              </a:rPr>
              <a:t>G = </a:t>
            </a:r>
            <a:r>
              <a:rPr lang="da-DK" b="1" baseline="0" dirty="0" err="1" smtClean="0">
                <a:sym typeface="Wingdings" panose="05000000000000000000" pitchFamily="2" charset="2"/>
              </a:rPr>
              <a:t>gallbladder</a:t>
            </a:r>
            <a:r>
              <a:rPr lang="da-DK" b="1" baseline="0" dirty="0" smtClean="0">
                <a:sym typeface="Wingdings" panose="05000000000000000000" pitchFamily="2" charset="2"/>
              </a:rPr>
              <a:t>/galdeblære</a:t>
            </a:r>
            <a:r>
              <a:rPr lang="da-DK" baseline="0" dirty="0" smtClean="0">
                <a:sym typeface="Wingdings" panose="05000000000000000000" pitchFamily="2" charset="2"/>
              </a:rPr>
              <a:t>, </a:t>
            </a:r>
            <a:r>
              <a:rPr lang="da-DK" b="1" baseline="0" dirty="0" smtClean="0">
                <a:sym typeface="Wingdings" panose="05000000000000000000" pitchFamily="2" charset="2"/>
              </a:rPr>
              <a:t>L = liver/lever</a:t>
            </a:r>
            <a:r>
              <a:rPr lang="da-DK" baseline="0" dirty="0" smtClean="0">
                <a:sym typeface="Wingdings" panose="05000000000000000000" pitchFamily="2" charset="2"/>
              </a:rPr>
              <a:t>, </a:t>
            </a:r>
            <a:r>
              <a:rPr lang="da-DK" b="1" baseline="0" dirty="0" smtClean="0">
                <a:sym typeface="Wingdings" panose="05000000000000000000" pitchFamily="2" charset="2"/>
              </a:rPr>
              <a:t>Ll = large </a:t>
            </a:r>
            <a:r>
              <a:rPr lang="da-DK" b="1" baseline="0" dirty="0" err="1" smtClean="0">
                <a:sym typeface="Wingdings" panose="05000000000000000000" pitchFamily="2" charset="2"/>
              </a:rPr>
              <a:t>intestine</a:t>
            </a:r>
            <a:r>
              <a:rPr lang="da-DK" b="1" baseline="0" dirty="0" smtClean="0">
                <a:sym typeface="Wingdings" panose="05000000000000000000" pitchFamily="2" charset="2"/>
              </a:rPr>
              <a:t>/tyktarm</a:t>
            </a:r>
            <a:r>
              <a:rPr lang="da-DK" baseline="0" dirty="0" smtClean="0">
                <a:sym typeface="Wingdings" panose="05000000000000000000" pitchFamily="2" charset="2"/>
              </a:rPr>
              <a:t>, SG = spiral gut (hos haj),  </a:t>
            </a:r>
            <a:r>
              <a:rPr lang="da-DK" b="1" baseline="0" dirty="0" smtClean="0">
                <a:sym typeface="Wingdings" panose="05000000000000000000" pitchFamily="2" charset="2"/>
              </a:rPr>
              <a:t>P = pancreas/bugspytkirtel</a:t>
            </a:r>
            <a:r>
              <a:rPr lang="da-DK" baseline="0" dirty="0" smtClean="0">
                <a:sym typeface="Wingdings" panose="05000000000000000000" pitchFamily="2" charset="2"/>
              </a:rPr>
              <a:t>, PA = </a:t>
            </a:r>
            <a:r>
              <a:rPr lang="da-DK" baseline="0" dirty="0" err="1" smtClean="0">
                <a:sym typeface="Wingdings" panose="05000000000000000000" pitchFamily="2" charset="2"/>
              </a:rPr>
              <a:t>pyloric</a:t>
            </a:r>
            <a:r>
              <a:rPr lang="da-DK" baseline="0" dirty="0" smtClean="0">
                <a:sym typeface="Wingdings" panose="05000000000000000000" pitchFamily="2" charset="2"/>
              </a:rPr>
              <a:t> </a:t>
            </a:r>
            <a:r>
              <a:rPr lang="da-DK" baseline="0" dirty="0" err="1" smtClean="0">
                <a:sym typeface="Wingdings" panose="05000000000000000000" pitchFamily="2" charset="2"/>
              </a:rPr>
              <a:t>appendices</a:t>
            </a:r>
            <a:r>
              <a:rPr lang="da-DK" baseline="0" dirty="0" smtClean="0">
                <a:sym typeface="Wingdings" panose="05000000000000000000" pitchFamily="2" charset="2"/>
              </a:rPr>
              <a:t> (”blindtarm” hos fisk), </a:t>
            </a:r>
            <a:r>
              <a:rPr lang="da-DK" b="1" baseline="0" dirty="0" smtClean="0">
                <a:sym typeface="Wingdings" panose="05000000000000000000" pitchFamily="2" charset="2"/>
              </a:rPr>
              <a:t>SI = small </a:t>
            </a:r>
            <a:r>
              <a:rPr lang="da-DK" b="1" baseline="0" dirty="0" err="1" smtClean="0">
                <a:sym typeface="Wingdings" panose="05000000000000000000" pitchFamily="2" charset="2"/>
              </a:rPr>
              <a:t>intestine</a:t>
            </a:r>
            <a:r>
              <a:rPr lang="da-DK" b="1" baseline="0" dirty="0" smtClean="0">
                <a:sym typeface="Wingdings" panose="05000000000000000000" pitchFamily="2" charset="2"/>
              </a:rPr>
              <a:t>/tyndtarm</a:t>
            </a:r>
            <a:r>
              <a:rPr lang="da-DK" baseline="0" dirty="0" smtClean="0">
                <a:sym typeface="Wingdings" panose="05000000000000000000" pitchFamily="2" charset="2"/>
              </a:rPr>
              <a:t>, </a:t>
            </a:r>
            <a:r>
              <a:rPr lang="da-DK" b="1" baseline="0" dirty="0" smtClean="0">
                <a:sym typeface="Wingdings" panose="05000000000000000000" pitchFamily="2" charset="2"/>
              </a:rPr>
              <a:t>St =</a:t>
            </a:r>
            <a:r>
              <a:rPr lang="da-DK" baseline="0" dirty="0" smtClean="0">
                <a:sym typeface="Wingdings" panose="05000000000000000000" pitchFamily="2" charset="2"/>
              </a:rPr>
              <a:t> </a:t>
            </a:r>
            <a:r>
              <a:rPr lang="da-DK" b="1" baseline="0" dirty="0" err="1" smtClean="0">
                <a:sym typeface="Wingdings" panose="05000000000000000000" pitchFamily="2" charset="2"/>
              </a:rPr>
              <a:t>stomach</a:t>
            </a:r>
            <a:r>
              <a:rPr lang="da-DK" b="1" baseline="0" dirty="0" smtClean="0">
                <a:sym typeface="Wingdings" panose="05000000000000000000" pitchFamily="2" charset="2"/>
              </a:rPr>
              <a:t>/mavesæk.</a:t>
            </a:r>
          </a:p>
          <a:p>
            <a:r>
              <a:rPr lang="da-DK" baseline="0" dirty="0" err="1" smtClean="0">
                <a:sym typeface="Wingdings" panose="05000000000000000000" pitchFamily="2" charset="2"/>
              </a:rPr>
              <a:t>Hagfish</a:t>
            </a:r>
            <a:r>
              <a:rPr lang="da-DK" baseline="0" dirty="0" smtClean="0">
                <a:sym typeface="Wingdings" panose="05000000000000000000" pitchFamily="2" charset="2"/>
              </a:rPr>
              <a:t> = </a:t>
            </a:r>
            <a:r>
              <a:rPr lang="da-DK" baseline="0" dirty="0" err="1" smtClean="0">
                <a:sym typeface="Wingdings" panose="05000000000000000000" pitchFamily="2" charset="2"/>
              </a:rPr>
              <a:t>slimål</a:t>
            </a:r>
            <a:r>
              <a:rPr lang="da-DK" baseline="0" dirty="0" smtClean="0">
                <a:sym typeface="Wingdings" panose="05000000000000000000" pitchFamily="2" charset="2"/>
              </a:rPr>
              <a:t>. Bass = havaborre. 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060D1F-E442-481E-9A47-3733536FDE17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48252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4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67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63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25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974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19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021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8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 smtClean="0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93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112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6934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402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688521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74859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764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E61D-D431-422C-9764-11DAFE33AB63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084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12/3/2017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353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smtClean="0"/>
              <a:t>Oversigt over kroppens organsystemer</a:t>
            </a:r>
            <a:endParaRPr lang="da-DK" dirty="0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 smtClean="0"/>
              <a:t>Biologi til tiden s. 16-17</a:t>
            </a:r>
          </a:p>
          <a:p>
            <a:r>
              <a:rPr lang="da-DK" dirty="0" err="1" smtClean="0"/>
              <a:t>BiC</a:t>
            </a:r>
            <a:r>
              <a:rPr lang="da-DK" dirty="0" smtClean="0"/>
              <a:t> 1g 2017-18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1699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7984"/>
          </a:xfrm>
        </p:spPr>
        <p:txBody>
          <a:bodyPr/>
          <a:lstStyle/>
          <a:p>
            <a:r>
              <a:rPr lang="da-DK" dirty="0" smtClean="0"/>
              <a:t>Fra celler til hele organismer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680320" y="1427584"/>
            <a:ext cx="7969158" cy="4935893"/>
          </a:xfrm>
        </p:spPr>
        <p:txBody>
          <a:bodyPr>
            <a:normAutofit/>
          </a:bodyPr>
          <a:lstStyle/>
          <a:p>
            <a:r>
              <a:rPr lang="da-DK" sz="2400" b="1" dirty="0" smtClean="0">
                <a:solidFill>
                  <a:schemeClr val="accent2"/>
                </a:solidFill>
              </a:rPr>
              <a:t>Hvordan dannes vi?</a:t>
            </a:r>
          </a:p>
          <a:p>
            <a:r>
              <a:rPr lang="da-DK" sz="2400" dirty="0" smtClean="0"/>
              <a:t>Ved sammensmeltning mellem 2 celler:</a:t>
            </a:r>
            <a:br>
              <a:rPr lang="da-DK" sz="2400" dirty="0" smtClean="0"/>
            </a:br>
            <a:r>
              <a:rPr lang="da-DK" sz="2400" dirty="0" smtClean="0"/>
              <a:t>1 æg og 1 sædcelle</a:t>
            </a:r>
          </a:p>
          <a:p>
            <a:r>
              <a:rPr lang="da-DK" sz="2400" b="1" dirty="0" smtClean="0">
                <a:solidFill>
                  <a:schemeClr val="accent2"/>
                </a:solidFill>
              </a:rPr>
              <a:t>Hvordan bliver det til en organisme?</a:t>
            </a:r>
          </a:p>
          <a:p>
            <a:r>
              <a:rPr lang="da-DK" sz="2400" dirty="0" smtClean="0"/>
              <a:t>Cellen deler sig i 2, som deler sig i 4, som deler sig i 8 – 16 – 32 – 64 </a:t>
            </a:r>
            <a:r>
              <a:rPr lang="da-DK" sz="2400" dirty="0" err="1" smtClean="0"/>
              <a:t>osv</a:t>
            </a:r>
            <a:r>
              <a:rPr lang="da-DK" sz="2400" dirty="0" smtClean="0"/>
              <a:t>, indtil der er celler nok.</a:t>
            </a:r>
          </a:p>
          <a:p>
            <a:r>
              <a:rPr lang="da-DK" sz="2400" dirty="0" smtClean="0"/>
              <a:t>Samtidig sker der specialisering: Alle celler har det samme DNA, men nogle specialiserer sig til at være leverceller, andre hudceller osv.</a:t>
            </a:r>
          </a:p>
          <a:p>
            <a:r>
              <a:rPr lang="da-DK" sz="2400" b="1" dirty="0" smtClean="0">
                <a:solidFill>
                  <a:schemeClr val="accent2"/>
                </a:solidFill>
              </a:rPr>
              <a:t>Hvor mange celler består et voksent individ af?</a:t>
            </a:r>
          </a:p>
          <a:p>
            <a:r>
              <a:rPr lang="da-DK" sz="2400" dirty="0" smtClean="0"/>
              <a:t>Ca. 10</a:t>
            </a:r>
            <a:r>
              <a:rPr lang="da-DK" sz="2400" baseline="30000" dirty="0" smtClean="0"/>
              <a:t>14 </a:t>
            </a:r>
            <a:r>
              <a:rPr lang="da-DK" sz="2400" dirty="0" smtClean="0"/>
              <a:t>= 100.000.000.000.000</a:t>
            </a:r>
            <a:endParaRPr lang="da-DK" sz="2400" dirty="0"/>
          </a:p>
        </p:txBody>
      </p:sp>
      <p:pic>
        <p:nvPicPr>
          <p:cNvPr id="1026" name="Picture 2" descr="http://www.franklorentzen.info/fotos/%C3%A6g-s%C3%A6dcelle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514" y="609600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99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Organsystemer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677335" y="1455576"/>
            <a:ext cx="3857344" cy="45857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a-DK" dirty="0" smtClean="0"/>
              <a:t>Menneskekroppen kan inddeles i 10 forskellige organsystemer:</a:t>
            </a:r>
          </a:p>
          <a:p>
            <a:pPr>
              <a:buFont typeface="+mj-lt"/>
              <a:buAutoNum type="arabicPeriod"/>
            </a:pPr>
            <a:r>
              <a:rPr lang="da-DK" dirty="0" smtClean="0"/>
              <a:t>Huden</a:t>
            </a:r>
          </a:p>
          <a:p>
            <a:pPr>
              <a:buFont typeface="+mj-lt"/>
              <a:buAutoNum type="arabicPeriod"/>
            </a:pPr>
            <a:r>
              <a:rPr lang="da-DK" dirty="0" smtClean="0"/>
              <a:t>Musklerne og skelettet</a:t>
            </a:r>
          </a:p>
          <a:p>
            <a:pPr>
              <a:buFont typeface="+mj-lt"/>
              <a:buAutoNum type="arabicPeriod"/>
            </a:pPr>
            <a:r>
              <a:rPr lang="da-DK" dirty="0" smtClean="0"/>
              <a:t>Nervesystemet</a:t>
            </a:r>
          </a:p>
          <a:p>
            <a:pPr>
              <a:buFont typeface="+mj-lt"/>
              <a:buAutoNum type="arabicPeriod"/>
            </a:pPr>
            <a:r>
              <a:rPr lang="da-DK" dirty="0" smtClean="0"/>
              <a:t>Hormonsystemet</a:t>
            </a:r>
          </a:p>
          <a:p>
            <a:pPr>
              <a:buFont typeface="+mj-lt"/>
              <a:buAutoNum type="arabicPeriod"/>
            </a:pPr>
            <a:r>
              <a:rPr lang="da-DK" dirty="0" smtClean="0"/>
              <a:t>Luftvejssystemet</a:t>
            </a:r>
          </a:p>
          <a:p>
            <a:pPr>
              <a:buFont typeface="+mj-lt"/>
              <a:buAutoNum type="arabicPeriod"/>
            </a:pPr>
            <a:r>
              <a:rPr lang="da-DK" dirty="0" smtClean="0"/>
              <a:t>Kredsløbet</a:t>
            </a:r>
          </a:p>
          <a:p>
            <a:pPr>
              <a:buFont typeface="+mj-lt"/>
              <a:buAutoNum type="arabicPeriod"/>
            </a:pPr>
            <a:r>
              <a:rPr lang="da-DK" dirty="0" smtClean="0"/>
              <a:t>Urinvejssystemet</a:t>
            </a:r>
          </a:p>
          <a:p>
            <a:pPr>
              <a:buFont typeface="+mj-lt"/>
              <a:buAutoNum type="arabicPeriod"/>
            </a:pPr>
            <a:r>
              <a:rPr lang="da-DK" dirty="0" smtClean="0"/>
              <a:t>Forplantningssystemet</a:t>
            </a:r>
          </a:p>
          <a:p>
            <a:pPr>
              <a:buFont typeface="+mj-lt"/>
              <a:buAutoNum type="arabicPeriod"/>
            </a:pPr>
            <a:r>
              <a:rPr lang="da-DK" dirty="0" smtClean="0"/>
              <a:t>Immunsystemet</a:t>
            </a:r>
          </a:p>
          <a:p>
            <a:pPr>
              <a:buFont typeface="+mj-lt"/>
              <a:buAutoNum type="arabicPeriod"/>
            </a:pPr>
            <a:r>
              <a:rPr lang="da-DK" dirty="0" smtClean="0"/>
              <a:t>Fordøjelsessystemet</a:t>
            </a:r>
            <a:endParaRPr lang="da-DK" dirty="0"/>
          </a:p>
        </p:txBody>
      </p:sp>
      <p:pic>
        <p:nvPicPr>
          <p:cNvPr id="5" name="il_fi" descr="http://1.bp.blogspot.com/_pI5cLoTVLjg/TVGYYoM__mI/AAAAAAAAAAg/aNg9dqT7-tU/s1600/organsystem.jpg"/>
          <p:cNvPicPr>
            <a:picLocks noGrp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2710" y="1259633"/>
            <a:ext cx="6904653" cy="4781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4530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4" y="637592"/>
            <a:ext cx="1804609" cy="780661"/>
          </a:xfrm>
        </p:spPr>
        <p:txBody>
          <a:bodyPr/>
          <a:lstStyle/>
          <a:p>
            <a:r>
              <a:rPr lang="da-DK" dirty="0" smtClean="0"/>
              <a:t>Huden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677334" y="1418253"/>
            <a:ext cx="7123058" cy="4623108"/>
          </a:xfrm>
        </p:spPr>
        <p:txBody>
          <a:bodyPr>
            <a:normAutofit/>
          </a:bodyPr>
          <a:lstStyle/>
          <a:p>
            <a:r>
              <a:rPr lang="da-DK" sz="2400" dirty="0" smtClean="0">
                <a:solidFill>
                  <a:schemeClr val="accent2"/>
                </a:solidFill>
              </a:rPr>
              <a:t>Paralleller hos andre arter?</a:t>
            </a:r>
          </a:p>
          <a:p>
            <a:r>
              <a:rPr lang="da-DK" sz="2400" dirty="0" smtClean="0"/>
              <a:t>Skæl hos fisk, fjer hos fugle, skal hos krabber….</a:t>
            </a:r>
          </a:p>
          <a:p>
            <a:r>
              <a:rPr lang="da-DK" sz="2400" dirty="0" smtClean="0">
                <a:solidFill>
                  <a:schemeClr val="accent2"/>
                </a:solidFill>
              </a:rPr>
              <a:t>Funktioner?</a:t>
            </a:r>
          </a:p>
          <a:p>
            <a:r>
              <a:rPr lang="da-DK" sz="2400" dirty="0" smtClean="0"/>
              <a:t>Holde omverdenen ude/beskytte mod det ydre miljø</a:t>
            </a:r>
          </a:p>
          <a:p>
            <a:r>
              <a:rPr lang="da-DK" sz="2400" dirty="0" smtClean="0"/>
              <a:t>Spiller vigtig rolle i temperaturregulering (sved, gåsehud (som er at ”rejse pelsen”))</a:t>
            </a:r>
          </a:p>
          <a:p>
            <a:r>
              <a:rPr lang="da-DK" sz="2400" dirty="0" smtClean="0"/>
              <a:t>Indeholder sanseceller, som er følsomme overfor tryk og temperatur </a:t>
            </a:r>
            <a:r>
              <a:rPr lang="da-DK" sz="2400" dirty="0" smtClean="0">
                <a:sym typeface="Wingdings" panose="05000000000000000000" pitchFamily="2" charset="2"/>
              </a:rPr>
              <a:t> informationer/advarsler om omverdenen</a:t>
            </a:r>
            <a:endParaRPr lang="da-DK" sz="2400" dirty="0"/>
          </a:p>
        </p:txBody>
      </p:sp>
      <p:pic>
        <p:nvPicPr>
          <p:cNvPr id="2050" name="Picture 2" descr="Billedresultat for hudens opbygni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286" y="3750906"/>
            <a:ext cx="3785964" cy="2664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172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Skelettet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677334" y="1315616"/>
            <a:ext cx="5714135" cy="4725745"/>
          </a:xfrm>
        </p:spPr>
        <p:txBody>
          <a:bodyPr>
            <a:noAutofit/>
          </a:bodyPr>
          <a:lstStyle/>
          <a:p>
            <a:r>
              <a:rPr lang="da-DK" sz="2400" b="1" dirty="0" smtClean="0">
                <a:solidFill>
                  <a:schemeClr val="accent2"/>
                </a:solidFill>
              </a:rPr>
              <a:t>Hvilke dyr har en rygsøjle?</a:t>
            </a:r>
          </a:p>
          <a:p>
            <a:r>
              <a:rPr lang="da-DK" sz="2400" i="1" dirty="0" err="1" smtClean="0"/>
              <a:t>Vertebraterne</a:t>
            </a:r>
            <a:r>
              <a:rPr lang="da-DK" sz="2400" dirty="0" smtClean="0"/>
              <a:t> = fisk, fugle, krybdyr, pattedyr…</a:t>
            </a:r>
          </a:p>
          <a:p>
            <a:r>
              <a:rPr lang="da-DK" sz="2400" b="1" dirty="0" smtClean="0">
                <a:solidFill>
                  <a:schemeClr val="accent2"/>
                </a:solidFill>
              </a:rPr>
              <a:t>Hvad er så </a:t>
            </a:r>
            <a:r>
              <a:rPr lang="da-DK" sz="2400" b="1" i="1" dirty="0" smtClean="0">
                <a:solidFill>
                  <a:schemeClr val="accent2"/>
                </a:solidFill>
              </a:rPr>
              <a:t>invertebrater</a:t>
            </a:r>
            <a:r>
              <a:rPr lang="da-DK" sz="2400" b="1" dirty="0" smtClean="0">
                <a:solidFill>
                  <a:schemeClr val="accent2"/>
                </a:solidFill>
              </a:rPr>
              <a:t>?</a:t>
            </a:r>
          </a:p>
          <a:p>
            <a:r>
              <a:rPr lang="da-DK" sz="2400" dirty="0" smtClean="0"/>
              <a:t>Dyr uden rygsøjle, fx insekter, orme, krebsdyr, bløddyr…</a:t>
            </a:r>
          </a:p>
          <a:p>
            <a:r>
              <a:rPr lang="da-DK" sz="2400" b="1" dirty="0" smtClean="0">
                <a:solidFill>
                  <a:schemeClr val="accent2"/>
                </a:solidFill>
              </a:rPr>
              <a:t>Hvilke funktioner har skelettet?</a:t>
            </a:r>
          </a:p>
          <a:p>
            <a:r>
              <a:rPr lang="da-DK" sz="2400" dirty="0" smtClean="0"/>
              <a:t>Holder os oppe, afstiver kroppen.</a:t>
            </a:r>
          </a:p>
          <a:p>
            <a:r>
              <a:rPr lang="da-DK" sz="2400" dirty="0" smtClean="0"/>
              <a:t>Basis for bevægelse og ”facon” (modsat fx krabber, som har deres ”skelet” yderst).</a:t>
            </a:r>
            <a:endParaRPr lang="da-DK" sz="2400" dirty="0"/>
          </a:p>
        </p:txBody>
      </p:sp>
      <p:pic>
        <p:nvPicPr>
          <p:cNvPr id="3088" name="Picture 16" descr="http://denstoredanske.dk/@api/deki/files/25194/=449367.801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340" y="751400"/>
            <a:ext cx="4955973" cy="5132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kstfelt 8"/>
          <p:cNvSpPr txBox="1"/>
          <p:nvPr/>
        </p:nvSpPr>
        <p:spPr>
          <a:xfrm>
            <a:off x="7511143" y="5840540"/>
            <a:ext cx="2656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smtClean="0"/>
              <a:t>Pierre </a:t>
            </a:r>
            <a:r>
              <a:rPr lang="da-DK" dirty="0" err="1" smtClean="0"/>
              <a:t>Belon</a:t>
            </a:r>
            <a:r>
              <a:rPr lang="da-DK" dirty="0" smtClean="0"/>
              <a:t>, 1517-1564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00723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3064242" cy="855306"/>
          </a:xfrm>
        </p:spPr>
        <p:txBody>
          <a:bodyPr>
            <a:normAutofit/>
          </a:bodyPr>
          <a:lstStyle/>
          <a:p>
            <a:r>
              <a:rPr lang="da-DK" sz="4000" dirty="0" smtClean="0"/>
              <a:t>Musklerne</a:t>
            </a:r>
            <a:endParaRPr lang="da-DK" sz="4000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5089969" y="1017037"/>
            <a:ext cx="4772487" cy="5024325"/>
          </a:xfrm>
        </p:spPr>
        <p:txBody>
          <a:bodyPr>
            <a:normAutofit/>
          </a:bodyPr>
          <a:lstStyle/>
          <a:p>
            <a:r>
              <a:rPr lang="da-DK" sz="2400" b="1" dirty="0">
                <a:solidFill>
                  <a:schemeClr val="accent2"/>
                </a:solidFill>
              </a:rPr>
              <a:t>Funktion af musklerne?</a:t>
            </a:r>
          </a:p>
          <a:p>
            <a:r>
              <a:rPr lang="da-DK" sz="2400" dirty="0"/>
              <a:t>Bevægelse</a:t>
            </a:r>
          </a:p>
          <a:p>
            <a:r>
              <a:rPr lang="da-DK" sz="2400" b="1" dirty="0">
                <a:solidFill>
                  <a:schemeClr val="accent2"/>
                </a:solidFill>
              </a:rPr>
              <a:t>Hvordan</a:t>
            </a:r>
            <a:r>
              <a:rPr lang="da-DK" sz="2400" b="1" dirty="0" smtClean="0">
                <a:solidFill>
                  <a:schemeClr val="accent2"/>
                </a:solidFill>
              </a:rPr>
              <a:t>?</a:t>
            </a:r>
          </a:p>
          <a:p>
            <a:r>
              <a:rPr lang="da-DK" sz="2400" dirty="0" smtClean="0"/>
              <a:t>Musklerne hæfter til knoglerne ved hjælp af sener. Når musklen trækker sig sammen, sker der en bevægelse.</a:t>
            </a:r>
          </a:p>
          <a:p>
            <a:r>
              <a:rPr lang="da-DK" sz="2400" b="1" dirty="0" smtClean="0">
                <a:solidFill>
                  <a:schemeClr val="accent2"/>
                </a:solidFill>
              </a:rPr>
              <a:t>Hvad sker der på de to sider af armen, når man bøjer og strækker den? </a:t>
            </a:r>
            <a:br>
              <a:rPr lang="da-DK" sz="2400" b="1" dirty="0" smtClean="0">
                <a:solidFill>
                  <a:schemeClr val="accent2"/>
                </a:solidFill>
              </a:rPr>
            </a:br>
            <a:r>
              <a:rPr lang="da-DK" sz="2400" dirty="0" smtClean="0"/>
              <a:t>Mærk selv efter!</a:t>
            </a:r>
            <a:endParaRPr lang="da-DK" sz="2400" dirty="0"/>
          </a:p>
          <a:p>
            <a:endParaRPr lang="da-DK" dirty="0"/>
          </a:p>
        </p:txBody>
      </p:sp>
      <p:pic>
        <p:nvPicPr>
          <p:cNvPr id="4098" name="Picture 2" descr="http://wzozfm.com/files/2013/10/1-body-Digital-Vision-630x558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401" y="1642318"/>
            <a:ext cx="4403301" cy="3900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99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Nervesystemet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677334" y="1278294"/>
            <a:ext cx="7086310" cy="5141167"/>
          </a:xfrm>
        </p:spPr>
        <p:txBody>
          <a:bodyPr>
            <a:normAutofit/>
          </a:bodyPr>
          <a:lstStyle/>
          <a:p>
            <a:r>
              <a:rPr lang="da-DK" sz="2000" b="1" dirty="0" smtClean="0">
                <a:solidFill>
                  <a:schemeClr val="accent2"/>
                </a:solidFill>
              </a:rPr>
              <a:t>Hvilke dele består det af?</a:t>
            </a:r>
          </a:p>
          <a:p>
            <a:r>
              <a:rPr lang="da-DK" sz="2000" dirty="0" smtClean="0"/>
              <a:t>Hjernen, rygmarven, sanseorganer, nerveforbindelser til alle væv og organer.</a:t>
            </a:r>
          </a:p>
          <a:p>
            <a:r>
              <a:rPr lang="da-DK" sz="2000" b="1" dirty="0" smtClean="0">
                <a:solidFill>
                  <a:schemeClr val="accent2"/>
                </a:solidFill>
              </a:rPr>
              <a:t>Funktion:</a:t>
            </a:r>
          </a:p>
          <a:p>
            <a:r>
              <a:rPr lang="da-DK" sz="2000" dirty="0" smtClean="0"/>
              <a:t>Kontrol og information</a:t>
            </a:r>
          </a:p>
          <a:p>
            <a:r>
              <a:rPr lang="da-DK" sz="2000" dirty="0" smtClean="0">
                <a:solidFill>
                  <a:schemeClr val="accent2"/>
                </a:solidFill>
              </a:rPr>
              <a:t>BEVIDST:</a:t>
            </a:r>
          </a:p>
          <a:p>
            <a:r>
              <a:rPr lang="da-DK" sz="2000" dirty="0" smtClean="0"/>
              <a:t>Modtager impulser fra sanseorganer</a:t>
            </a:r>
          </a:p>
          <a:p>
            <a:r>
              <a:rPr lang="da-DK" sz="2000" dirty="0" smtClean="0"/>
              <a:t>”Bevidsthed” </a:t>
            </a:r>
          </a:p>
          <a:p>
            <a:r>
              <a:rPr lang="da-DK" sz="2000" dirty="0" smtClean="0"/>
              <a:t>Bevægelse (signal til muskler)</a:t>
            </a:r>
          </a:p>
          <a:p>
            <a:r>
              <a:rPr lang="da-DK" sz="2000" dirty="0" smtClean="0">
                <a:solidFill>
                  <a:schemeClr val="accent2"/>
                </a:solidFill>
              </a:rPr>
              <a:t>UBEVIDST:</a:t>
            </a:r>
          </a:p>
          <a:p>
            <a:r>
              <a:rPr lang="da-DK" sz="2000" i="1" dirty="0" err="1" smtClean="0"/>
              <a:t>Homeostase</a:t>
            </a:r>
            <a:r>
              <a:rPr lang="da-DK" sz="2000" dirty="0" smtClean="0"/>
              <a:t> i organerne, fx temperaturregulering</a:t>
            </a:r>
          </a:p>
          <a:p>
            <a:r>
              <a:rPr lang="da-DK" sz="2000" dirty="0" smtClean="0"/>
              <a:t>Reaktion, hvis man fx brænder sig på kogeplade.</a:t>
            </a:r>
            <a:endParaRPr lang="da-DK" sz="2000" dirty="0"/>
          </a:p>
        </p:txBody>
      </p:sp>
      <p:pic>
        <p:nvPicPr>
          <p:cNvPr id="5122" name="Picture 2" descr="http://time2be.dk/sites/default/files/public/styles/full_column/public/sympatisk_nervesystem_png.png?itok=p_euCHsV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644" y="2025780"/>
            <a:ext cx="3893604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21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Hormonsystemet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677334" y="1334278"/>
            <a:ext cx="6124682" cy="5001208"/>
          </a:xfrm>
        </p:spPr>
        <p:txBody>
          <a:bodyPr>
            <a:noAutofit/>
          </a:bodyPr>
          <a:lstStyle/>
          <a:p>
            <a:r>
              <a:rPr lang="da-DK" sz="2400" b="1" dirty="0" smtClean="0">
                <a:solidFill>
                  <a:schemeClr val="accent2"/>
                </a:solidFill>
              </a:rPr>
              <a:t>Funktion:</a:t>
            </a:r>
          </a:p>
          <a:p>
            <a:r>
              <a:rPr lang="da-DK" sz="2400" dirty="0" smtClean="0"/>
              <a:t>Signaler og kontrol. Som nervesystemet men langsommere</a:t>
            </a:r>
          </a:p>
          <a:p>
            <a:r>
              <a:rPr lang="da-DK" sz="2400" b="1" dirty="0" smtClean="0">
                <a:solidFill>
                  <a:schemeClr val="accent2"/>
                </a:solidFill>
              </a:rPr>
              <a:t>Hvordan foregår kommunikationen?</a:t>
            </a:r>
          </a:p>
          <a:p>
            <a:r>
              <a:rPr lang="da-DK" sz="2400" dirty="0" smtClean="0"/>
              <a:t>Kirtler i kroppen producerer stoffer, som transporteres via blodet og fremkalder en reaktion i bestemte væv og organer</a:t>
            </a:r>
          </a:p>
          <a:p>
            <a:r>
              <a:rPr lang="da-DK" sz="2400" b="1" dirty="0" smtClean="0">
                <a:solidFill>
                  <a:schemeClr val="accent2"/>
                </a:solidFill>
              </a:rPr>
              <a:t>Eksempler: </a:t>
            </a:r>
          </a:p>
          <a:p>
            <a:pPr lvl="1"/>
            <a:r>
              <a:rPr lang="da-DK" sz="2000" dirty="0" smtClean="0"/>
              <a:t>Adrenalin: Beredskabshormon – kamp og flugt (stress)</a:t>
            </a:r>
          </a:p>
          <a:p>
            <a:pPr lvl="1"/>
            <a:r>
              <a:rPr lang="da-DK" sz="2000" dirty="0" smtClean="0"/>
              <a:t>Kønshormoner: Behåring, muskel- og fedtfordeling, stemme, størrelse…</a:t>
            </a:r>
            <a:endParaRPr lang="da-DK" sz="2000" dirty="0"/>
          </a:p>
        </p:txBody>
      </p:sp>
      <p:pic>
        <p:nvPicPr>
          <p:cNvPr id="6146" name="Picture 2" descr="https://previews.123rf.com/images/designua/designua1509/designua150900003/44621437-Hormone-und-Appetit-Menschliche-Hormonsystem-Menschliche-Organe-und-Hormone--Lizenzfreie-Bilder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0641" y="1000821"/>
            <a:ext cx="4854591" cy="4854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87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Luftvejssystemet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677334" y="1380931"/>
            <a:ext cx="4184035" cy="4660430"/>
          </a:xfrm>
        </p:spPr>
        <p:txBody>
          <a:bodyPr>
            <a:normAutofit lnSpcReduction="10000"/>
          </a:bodyPr>
          <a:lstStyle/>
          <a:p>
            <a:r>
              <a:rPr lang="da-DK" dirty="0" smtClean="0">
                <a:solidFill>
                  <a:schemeClr val="accent2"/>
                </a:solidFill>
              </a:rPr>
              <a:t>Hvad består det af?</a:t>
            </a:r>
          </a:p>
          <a:p>
            <a:r>
              <a:rPr lang="da-DK" dirty="0" smtClean="0"/>
              <a:t>Næse, luftrør, bronkiegange, lunger, mellemgulvsmusklen.</a:t>
            </a:r>
          </a:p>
          <a:p>
            <a:r>
              <a:rPr lang="da-DK" dirty="0" smtClean="0">
                <a:solidFill>
                  <a:schemeClr val="accent2"/>
                </a:solidFill>
              </a:rPr>
              <a:t>Hvordan fungerer det?</a:t>
            </a:r>
          </a:p>
          <a:p>
            <a:r>
              <a:rPr lang="da-DK" dirty="0" smtClean="0"/>
              <a:t>Luft suges ind gennem næse/mund </a:t>
            </a:r>
            <a:r>
              <a:rPr lang="da-DK" dirty="0" smtClean="0">
                <a:sym typeface="Wingdings" panose="05000000000000000000" pitchFamily="2" charset="2"/>
              </a:rPr>
              <a:t> luftrør  bronchier  lungerne</a:t>
            </a:r>
          </a:p>
          <a:p>
            <a:r>
              <a:rPr lang="da-DK" dirty="0" smtClean="0">
                <a:sym typeface="Wingdings" panose="05000000000000000000" pitchFamily="2" charset="2"/>
              </a:rPr>
              <a:t>Ilt diffunderer fra lungerne til de røde blodlegemer i blodet</a:t>
            </a:r>
          </a:p>
          <a:p>
            <a:r>
              <a:rPr lang="da-DK" dirty="0" smtClean="0">
                <a:sym typeface="Wingdings" panose="05000000000000000000" pitchFamily="2" charset="2"/>
              </a:rPr>
              <a:t>Kuldioxid diffunderer den modsatte vej</a:t>
            </a:r>
          </a:p>
          <a:p>
            <a:r>
              <a:rPr lang="da-DK" dirty="0" smtClean="0">
                <a:solidFill>
                  <a:schemeClr val="accent2"/>
                </a:solidFill>
                <a:sym typeface="Wingdings" panose="05000000000000000000" pitchFamily="2" charset="2"/>
              </a:rPr>
              <a:t>Hvilke muskler indgår?</a:t>
            </a:r>
          </a:p>
          <a:p>
            <a:r>
              <a:rPr lang="da-DK" dirty="0" smtClean="0">
                <a:sym typeface="Wingdings" panose="05000000000000000000" pitchFamily="2" charset="2"/>
              </a:rPr>
              <a:t>Mellemgulvsmuskler (mærk efter!), muskler mellem ribben</a:t>
            </a:r>
          </a:p>
          <a:p>
            <a:r>
              <a:rPr lang="da-DK" dirty="0" smtClean="0">
                <a:sym typeface="Wingdings" panose="05000000000000000000" pitchFamily="2" charset="2"/>
              </a:rPr>
              <a:t>Indånding er aktiv, udånding passiv</a:t>
            </a:r>
            <a:endParaRPr lang="da-DK" dirty="0" smtClean="0"/>
          </a:p>
          <a:p>
            <a:endParaRPr lang="da-DK" dirty="0"/>
          </a:p>
        </p:txBody>
      </p:sp>
      <p:pic>
        <p:nvPicPr>
          <p:cNvPr id="7170" name="Picture 2" descr="http://biologi.gyldendal.dk/~/media/85662E5BA8124541B4821EC9BE663094.ashx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685" y="2045834"/>
            <a:ext cx="3048000" cy="30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ktangulær billedforklaring 4"/>
          <p:cNvSpPr/>
          <p:nvPr/>
        </p:nvSpPr>
        <p:spPr>
          <a:xfrm>
            <a:off x="7912359" y="681135"/>
            <a:ext cx="2323323" cy="793102"/>
          </a:xfrm>
          <a:prstGeom prst="wedgeRectCallout">
            <a:avLst>
              <a:gd name="adj1" fmla="val -65095"/>
              <a:gd name="adj2" fmla="val 14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smtClean="0"/>
              <a:t>Hvor mange åndedrag pr minut?</a:t>
            </a:r>
            <a:endParaRPr lang="da-DK" dirty="0"/>
          </a:p>
        </p:txBody>
      </p:sp>
      <p:sp>
        <p:nvSpPr>
          <p:cNvPr id="6" name="Rektangulær billedforklaring 5"/>
          <p:cNvSpPr/>
          <p:nvPr/>
        </p:nvSpPr>
        <p:spPr>
          <a:xfrm>
            <a:off x="9069355" y="2948473"/>
            <a:ext cx="2164702" cy="914400"/>
          </a:xfrm>
          <a:prstGeom prst="wedgeRectCallout">
            <a:avLst>
              <a:gd name="adj1" fmla="val -104885"/>
              <a:gd name="adj2" fmla="val 268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smtClean="0"/>
              <a:t>Hvor meget luft pr indånding?</a:t>
            </a:r>
            <a:endParaRPr lang="da-DK" dirty="0"/>
          </a:p>
        </p:txBody>
      </p:sp>
      <p:sp>
        <p:nvSpPr>
          <p:cNvPr id="7" name="Rektangulær billedforklaring 6"/>
          <p:cNvSpPr/>
          <p:nvPr/>
        </p:nvSpPr>
        <p:spPr>
          <a:xfrm>
            <a:off x="9069355" y="4954555"/>
            <a:ext cx="1931437" cy="1086806"/>
          </a:xfrm>
          <a:prstGeom prst="wedgeRectCallout">
            <a:avLst>
              <a:gd name="adj1" fmla="val -82057"/>
              <a:gd name="adj2" fmla="val -565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smtClean="0"/>
              <a:t>Hvad kan det øges til ved hårdt arbejde?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1666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2737670" cy="799322"/>
          </a:xfrm>
        </p:spPr>
        <p:txBody>
          <a:bodyPr/>
          <a:lstStyle/>
          <a:p>
            <a:r>
              <a:rPr lang="da-DK" dirty="0" smtClean="0"/>
              <a:t>Kredsløbet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677334" y="1408922"/>
            <a:ext cx="5574176" cy="4632439"/>
          </a:xfrm>
        </p:spPr>
        <p:txBody>
          <a:bodyPr>
            <a:noAutofit/>
          </a:bodyPr>
          <a:lstStyle/>
          <a:p>
            <a:r>
              <a:rPr lang="da-DK" sz="2400" dirty="0" smtClean="0">
                <a:solidFill>
                  <a:schemeClr val="accent2"/>
                </a:solidFill>
              </a:rPr>
              <a:t>Hvad består det af?</a:t>
            </a:r>
          </a:p>
          <a:p>
            <a:r>
              <a:rPr lang="da-DK" sz="2400" dirty="0" smtClean="0"/>
              <a:t>Hjerte, blodkar, blod</a:t>
            </a:r>
          </a:p>
          <a:p>
            <a:r>
              <a:rPr lang="da-DK" sz="2400" dirty="0" smtClean="0">
                <a:solidFill>
                  <a:schemeClr val="accent2"/>
                </a:solidFill>
              </a:rPr>
              <a:t>Hvilken funktion har det?</a:t>
            </a:r>
          </a:p>
          <a:p>
            <a:r>
              <a:rPr lang="da-DK" sz="2400" dirty="0" smtClean="0"/>
              <a:t>Transport- og forsyningsnet</a:t>
            </a:r>
          </a:p>
          <a:p>
            <a:r>
              <a:rPr lang="da-DK" sz="2400" dirty="0" smtClean="0">
                <a:solidFill>
                  <a:schemeClr val="accent2"/>
                </a:solidFill>
              </a:rPr>
              <a:t>Hvordan?</a:t>
            </a:r>
          </a:p>
          <a:p>
            <a:r>
              <a:rPr lang="da-DK" sz="2400" dirty="0" smtClean="0"/>
              <a:t> </a:t>
            </a:r>
            <a:r>
              <a:rPr lang="da-DK" sz="2400" dirty="0"/>
              <a:t>Hjertet pumper </a:t>
            </a:r>
            <a:r>
              <a:rPr lang="da-DK" sz="2400" dirty="0" smtClean="0"/>
              <a:t>blodet rundt i kroppen. De mindste blodårer har forbindelse til alle kroppens celler, som forsynes med ilt og næringsstoffer og slipper af med kuldioxid og affaldsstoffer.</a:t>
            </a:r>
            <a:endParaRPr lang="da-DK" sz="2400" dirty="0"/>
          </a:p>
        </p:txBody>
      </p:sp>
      <p:pic>
        <p:nvPicPr>
          <p:cNvPr id="8194" name="Picture 2" descr="https://hjertetskredsloeb.files.wordpress.com/2014/02/6914082-hjerte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649" y="1672119"/>
            <a:ext cx="5054673" cy="3366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billedforklaring 4"/>
          <p:cNvSpPr/>
          <p:nvPr/>
        </p:nvSpPr>
        <p:spPr>
          <a:xfrm>
            <a:off x="7212564" y="280888"/>
            <a:ext cx="2817845" cy="839755"/>
          </a:xfrm>
          <a:prstGeom prst="wedgeEllipseCallout">
            <a:avLst>
              <a:gd name="adj1" fmla="val -6263"/>
              <a:gd name="adj2" fmla="val 13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smtClean="0"/>
              <a:t>Hvor mange hjerteslag pr minut?</a:t>
            </a:r>
            <a:endParaRPr lang="da-DK" dirty="0"/>
          </a:p>
        </p:txBody>
      </p:sp>
      <p:sp>
        <p:nvSpPr>
          <p:cNvPr id="6" name="Oval billedforklaring 5"/>
          <p:cNvSpPr/>
          <p:nvPr/>
        </p:nvSpPr>
        <p:spPr>
          <a:xfrm>
            <a:off x="6158204" y="5301727"/>
            <a:ext cx="2463282" cy="1136395"/>
          </a:xfrm>
          <a:prstGeom prst="wedgeEllipseCallout">
            <a:avLst>
              <a:gd name="adj1" fmla="val 25758"/>
              <a:gd name="adj2" fmla="val -1189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smtClean="0"/>
              <a:t>Hvor meget blod pr hjerteslag?</a:t>
            </a:r>
            <a:endParaRPr lang="da-DK" dirty="0"/>
          </a:p>
        </p:txBody>
      </p:sp>
      <p:sp>
        <p:nvSpPr>
          <p:cNvPr id="7" name="Oval billedforklaring 6"/>
          <p:cNvSpPr/>
          <p:nvPr/>
        </p:nvSpPr>
        <p:spPr>
          <a:xfrm>
            <a:off x="8957388" y="5301727"/>
            <a:ext cx="2774992" cy="1136395"/>
          </a:xfrm>
          <a:prstGeom prst="wedgeEllipseCallout">
            <a:avLst>
              <a:gd name="adj1" fmla="val -21169"/>
              <a:gd name="adj2" fmla="val -1132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smtClean="0"/>
              <a:t>Hvad kan det øges til ved arbejde?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973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3838682" cy="771331"/>
          </a:xfrm>
        </p:spPr>
        <p:txBody>
          <a:bodyPr/>
          <a:lstStyle/>
          <a:p>
            <a:r>
              <a:rPr lang="da-DK" dirty="0" smtClean="0"/>
              <a:t>Urinvejssystemet</a:t>
            </a:r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5089970" y="1184988"/>
            <a:ext cx="4184034" cy="4856374"/>
          </a:xfrm>
        </p:spPr>
        <p:txBody>
          <a:bodyPr>
            <a:normAutofit/>
          </a:bodyPr>
          <a:lstStyle/>
          <a:p>
            <a:r>
              <a:rPr lang="da-DK" sz="2400" dirty="0">
                <a:solidFill>
                  <a:schemeClr val="accent2"/>
                </a:solidFill>
              </a:rPr>
              <a:t>Hvad består det af?</a:t>
            </a:r>
          </a:p>
          <a:p>
            <a:r>
              <a:rPr lang="da-DK" sz="2400" dirty="0"/>
              <a:t>Nyrer, urinledere, blære, urinrør.</a:t>
            </a:r>
          </a:p>
          <a:p>
            <a:r>
              <a:rPr lang="da-DK" sz="2400" dirty="0">
                <a:solidFill>
                  <a:schemeClr val="accent2"/>
                </a:solidFill>
              </a:rPr>
              <a:t>Funktion?</a:t>
            </a:r>
          </a:p>
          <a:p>
            <a:r>
              <a:rPr lang="da-DK" sz="2400" dirty="0"/>
              <a:t>Regulerer kroppens indhold af vand, salte og urinstof (hvorved vi udskiller N (kvælstof))</a:t>
            </a:r>
          </a:p>
          <a:p>
            <a:r>
              <a:rPr lang="da-DK" sz="2400" dirty="0"/>
              <a:t>Renser blodet for affaldsstoffer (fx medicin – sammen med leveren)</a:t>
            </a:r>
          </a:p>
          <a:p>
            <a:endParaRPr lang="da-DK" sz="2400" dirty="0"/>
          </a:p>
        </p:txBody>
      </p:sp>
      <p:pic>
        <p:nvPicPr>
          <p:cNvPr id="9218" name="Picture 2" descr="https://imgc.allpostersimages.com/img/print/plakater/udaix-urinvejssystemet_a-G-10861948-9201948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40" y="1184988"/>
            <a:ext cx="4427829" cy="4427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013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8793237" cy="939282"/>
          </a:xfrm>
        </p:spPr>
        <p:txBody>
          <a:bodyPr>
            <a:normAutofit fontScale="90000"/>
          </a:bodyPr>
          <a:lstStyle/>
          <a:p>
            <a:r>
              <a:rPr lang="da-DK" sz="2800" b="1" dirty="0" smtClean="0"/>
              <a:t>Forplantningssystemet:</a:t>
            </a:r>
            <a:r>
              <a:rPr lang="da-DK" sz="2800" dirty="0" smtClean="0"/>
              <a:t> De ydre og indre kønsorganer. </a:t>
            </a:r>
            <a:br>
              <a:rPr lang="da-DK" sz="2800" dirty="0" smtClean="0"/>
            </a:br>
            <a:r>
              <a:rPr lang="da-DK" sz="2800" b="1" dirty="0" smtClean="0"/>
              <a:t>Funktion:</a:t>
            </a:r>
            <a:r>
              <a:rPr lang="da-DK" sz="2800" dirty="0" smtClean="0"/>
              <a:t> At videreføre livet</a:t>
            </a:r>
            <a:endParaRPr lang="da-DK" sz="2800" dirty="0"/>
          </a:p>
        </p:txBody>
      </p:sp>
      <p:sp>
        <p:nvSpPr>
          <p:cNvPr id="5" name="Pladsholder til tekst 4"/>
          <p:cNvSpPr>
            <a:spLocks noGrp="1"/>
          </p:cNvSpPr>
          <p:nvPr>
            <p:ph type="body" idx="1"/>
          </p:nvPr>
        </p:nvSpPr>
        <p:spPr>
          <a:xfrm>
            <a:off x="675745" y="1754155"/>
            <a:ext cx="4185623" cy="149290"/>
          </a:xfrm>
        </p:spPr>
        <p:txBody>
          <a:bodyPr/>
          <a:lstStyle/>
          <a:p>
            <a:endParaRPr lang="da-DK" b="1" dirty="0" smtClean="0"/>
          </a:p>
          <a:p>
            <a:endParaRPr lang="da-DK" b="1" dirty="0"/>
          </a:p>
          <a:p>
            <a:endParaRPr lang="da-DK" b="1" dirty="0" smtClean="0"/>
          </a:p>
          <a:p>
            <a:endParaRPr lang="da-DK" b="1" dirty="0"/>
          </a:p>
          <a:p>
            <a:endParaRPr lang="da-DK" b="1" dirty="0" smtClean="0"/>
          </a:p>
          <a:p>
            <a:endParaRPr lang="da-DK" b="1" dirty="0" smtClean="0"/>
          </a:p>
        </p:txBody>
      </p:sp>
      <p:sp>
        <p:nvSpPr>
          <p:cNvPr id="7" name="Pladsholder til tekst 6"/>
          <p:cNvSpPr>
            <a:spLocks noGrp="1"/>
          </p:cNvSpPr>
          <p:nvPr>
            <p:ph type="body" sz="quarter" idx="3"/>
          </p:nvPr>
        </p:nvSpPr>
        <p:spPr>
          <a:xfrm>
            <a:off x="5088383" y="1754155"/>
            <a:ext cx="4185618" cy="149290"/>
          </a:xfrm>
        </p:spPr>
        <p:txBody>
          <a:bodyPr/>
          <a:lstStyle/>
          <a:p>
            <a:endParaRPr lang="da-DK" b="1" dirty="0" smtClean="0"/>
          </a:p>
          <a:p>
            <a:endParaRPr lang="da-DK" b="1" dirty="0"/>
          </a:p>
          <a:p>
            <a:endParaRPr lang="da-DK" b="1" dirty="0" smtClean="0"/>
          </a:p>
          <a:p>
            <a:endParaRPr lang="da-DK" b="1" dirty="0"/>
          </a:p>
          <a:p>
            <a:endParaRPr lang="da-DK" dirty="0"/>
          </a:p>
        </p:txBody>
      </p:sp>
      <p:pic>
        <p:nvPicPr>
          <p:cNvPr id="10244" name="Picture 4" descr="http://denstoredanske.dk/@api/deki/files/17395/=245119.801.png?size=webview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48" y="2311744"/>
            <a:ext cx="4535072" cy="2902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http://denstoredanske.dk/@api/deki/files/17397/=389030.801.png?size=webview"/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525"/>
          <a:stretch/>
        </p:blipFill>
        <p:spPr bwMode="auto">
          <a:xfrm>
            <a:off x="5993453" y="2276668"/>
            <a:ext cx="5697805" cy="2937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kstfelt 11"/>
          <p:cNvSpPr txBox="1"/>
          <p:nvPr/>
        </p:nvSpPr>
        <p:spPr>
          <a:xfrm>
            <a:off x="1156995" y="5309118"/>
            <a:ext cx="3461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/>
              <a:t>Manden:</a:t>
            </a:r>
            <a:r>
              <a:rPr lang="da-DK" dirty="0"/>
              <a:t> </a:t>
            </a:r>
          </a:p>
          <a:p>
            <a:r>
              <a:rPr lang="da-DK" dirty="0"/>
              <a:t>100 millioner sædceller pr døgn</a:t>
            </a:r>
            <a:endParaRPr lang="da-DK" dirty="0"/>
          </a:p>
        </p:txBody>
      </p:sp>
      <p:sp>
        <p:nvSpPr>
          <p:cNvPr id="13" name="Tekstfelt 12"/>
          <p:cNvSpPr txBox="1"/>
          <p:nvPr/>
        </p:nvSpPr>
        <p:spPr>
          <a:xfrm>
            <a:off x="7181192" y="5309118"/>
            <a:ext cx="3489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/>
              <a:t>Kvinden:</a:t>
            </a:r>
            <a:r>
              <a:rPr lang="da-DK" dirty="0"/>
              <a:t> </a:t>
            </a:r>
          </a:p>
          <a:p>
            <a:r>
              <a:rPr lang="da-DK" dirty="0"/>
              <a:t>1 æg pr måned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60649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Den tidlige fosterudvikling:</a:t>
            </a:r>
            <a:endParaRPr lang="da-DK" dirty="0"/>
          </a:p>
        </p:txBody>
      </p:sp>
      <p:pic>
        <p:nvPicPr>
          <p:cNvPr id="11266" name="Picture 2" descr="http://subsites.egaa-gym.dk/nr/biologi/roholt/Noter/billeder/ln44c.gif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887" y="1287036"/>
            <a:ext cx="4851918" cy="534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086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Immunsystemet</a:t>
            </a:r>
            <a:endParaRPr lang="da-DK" dirty="0"/>
          </a:p>
        </p:txBody>
      </p:sp>
      <p:sp>
        <p:nvSpPr>
          <p:cNvPr id="8" name="Pladsholder til indhold 7"/>
          <p:cNvSpPr>
            <a:spLocks noGrp="1"/>
          </p:cNvSpPr>
          <p:nvPr>
            <p:ph sz="half" idx="1"/>
          </p:nvPr>
        </p:nvSpPr>
        <p:spPr>
          <a:xfrm>
            <a:off x="677334" y="1539551"/>
            <a:ext cx="4184035" cy="4501810"/>
          </a:xfrm>
        </p:spPr>
        <p:txBody>
          <a:bodyPr>
            <a:normAutofit fontScale="92500" lnSpcReduction="20000"/>
          </a:bodyPr>
          <a:lstStyle/>
          <a:p>
            <a:r>
              <a:rPr lang="da-DK" sz="2400" dirty="0" smtClean="0">
                <a:solidFill>
                  <a:schemeClr val="accent2"/>
                </a:solidFill>
              </a:rPr>
              <a:t>Består af?</a:t>
            </a:r>
          </a:p>
          <a:p>
            <a:r>
              <a:rPr lang="da-DK" sz="2400" dirty="0" smtClean="0"/>
              <a:t>Hvide blodceller, lymfesystemet, milten og </a:t>
            </a:r>
            <a:r>
              <a:rPr lang="da-DK" sz="2400" dirty="0" err="1" smtClean="0"/>
              <a:t>thymus</a:t>
            </a:r>
            <a:r>
              <a:rPr lang="da-DK" sz="2400" dirty="0" smtClean="0"/>
              <a:t> (brislen, en kirtel midt i brystkassen bag brystbenet)</a:t>
            </a:r>
          </a:p>
          <a:p>
            <a:r>
              <a:rPr lang="da-DK" sz="2400" dirty="0" smtClean="0">
                <a:solidFill>
                  <a:schemeClr val="accent2"/>
                </a:solidFill>
              </a:rPr>
              <a:t>Funktion?</a:t>
            </a:r>
          </a:p>
          <a:p>
            <a:r>
              <a:rPr lang="da-DK" sz="2400" dirty="0" smtClean="0"/>
              <a:t>Beskytter kroppen mod fremmede organismer og bestanddele – fjender udefra (bakterier, virus)</a:t>
            </a:r>
          </a:p>
          <a:p>
            <a:r>
              <a:rPr lang="da-DK" sz="2400" dirty="0" smtClean="0"/>
              <a:t>Babyers immunforsvar er ikke færdigudviklet </a:t>
            </a:r>
            <a:r>
              <a:rPr lang="da-DK" sz="2400" dirty="0" smtClean="0">
                <a:sym typeface="Wingdings" panose="05000000000000000000" pitchFamily="2" charset="2"/>
              </a:rPr>
              <a:t> de er beskyttet via modermælken</a:t>
            </a:r>
            <a:endParaRPr lang="da-DK" sz="2400" dirty="0" smtClean="0"/>
          </a:p>
          <a:p>
            <a:endParaRPr lang="da-DK" dirty="0"/>
          </a:p>
        </p:txBody>
      </p:sp>
      <p:pic>
        <p:nvPicPr>
          <p:cNvPr id="12290" name="Picture 2" descr="https://www.nucleus.dk/images/figurer/immunologi/07_a.jpg?i=375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484" y="1084417"/>
            <a:ext cx="6349806" cy="4956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600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089792" y="553616"/>
            <a:ext cx="1067490" cy="4923453"/>
          </a:xfrm>
        </p:spPr>
        <p:txBody>
          <a:bodyPr vert="vert270">
            <a:normAutofit/>
          </a:bodyPr>
          <a:lstStyle/>
          <a:p>
            <a:r>
              <a:rPr lang="da-DK" sz="4000" dirty="0" smtClean="0"/>
              <a:t>Fordøjelsessystemet</a:t>
            </a:r>
            <a:endParaRPr lang="da-DK" sz="4000" dirty="0"/>
          </a:p>
        </p:txBody>
      </p:sp>
      <p:pic>
        <p:nvPicPr>
          <p:cNvPr id="9" name="Pladsholder til indhold 8" descr="E:\Biologi\tarm.jpeg"/>
          <p:cNvPicPr>
            <a:picLocks noGrp="1"/>
          </p:cNvPicPr>
          <p:nvPr>
            <p:ph idx="1"/>
          </p:nvPr>
        </p:nvPicPr>
        <p:blipFill>
          <a:blip r:embed="rId3" cstate="print"/>
          <a:srcRect l="9020" t="11552" r="7465" b="13137"/>
          <a:stretch>
            <a:fillRect/>
          </a:stretch>
        </p:blipFill>
        <p:spPr bwMode="auto">
          <a:xfrm>
            <a:off x="2905356" y="261938"/>
            <a:ext cx="5184285" cy="640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02361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290</TotalTime>
  <Words>1020</Words>
  <Application>Microsoft Office PowerPoint</Application>
  <PresentationFormat>Widescreen</PresentationFormat>
  <Paragraphs>137</Paragraphs>
  <Slides>15</Slides>
  <Notes>8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15</vt:i4>
      </vt:variant>
    </vt:vector>
  </HeadingPairs>
  <TitlesOfParts>
    <vt:vector size="21" baseType="lpstr">
      <vt:lpstr>Arial</vt:lpstr>
      <vt:lpstr>Calibri</vt:lpstr>
      <vt:lpstr>Trebuchet MS</vt:lpstr>
      <vt:lpstr>Wingdings</vt:lpstr>
      <vt:lpstr>Wingdings 3</vt:lpstr>
      <vt:lpstr>Facet</vt:lpstr>
      <vt:lpstr>Oversigt over kroppens organsystemer</vt:lpstr>
      <vt:lpstr>Fra celler til hele organismer</vt:lpstr>
      <vt:lpstr>Organsystemer</vt:lpstr>
      <vt:lpstr>Huden</vt:lpstr>
      <vt:lpstr>Skelettet</vt:lpstr>
      <vt:lpstr>Musklerne</vt:lpstr>
      <vt:lpstr>Nervesystemet</vt:lpstr>
      <vt:lpstr>Hormonsystemet</vt:lpstr>
      <vt:lpstr>Luftvejssystemet</vt:lpstr>
      <vt:lpstr>Kredsløbet</vt:lpstr>
      <vt:lpstr>Urinvejssystemet</vt:lpstr>
      <vt:lpstr>Forplantningssystemet: De ydre og indre kønsorganer.  Funktion: At videreføre livet</vt:lpstr>
      <vt:lpstr>Den tidlige fosterudvikling:</vt:lpstr>
      <vt:lpstr>Immunsystemet</vt:lpstr>
      <vt:lpstr>Fordøjelsessystemet</vt:lpstr>
    </vt:vector>
  </TitlesOfParts>
  <Company>IT-Center Fyn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Oversigt over kroppens organsystemer</dc:title>
  <dc:creator>Mette Mark</dc:creator>
  <cp:lastModifiedBy>Mette Mark</cp:lastModifiedBy>
  <cp:revision>24</cp:revision>
  <dcterms:created xsi:type="dcterms:W3CDTF">2017-12-03T18:04:15Z</dcterms:created>
  <dcterms:modified xsi:type="dcterms:W3CDTF">2017-12-03T22:55:12Z</dcterms:modified>
</cp:coreProperties>
</file>