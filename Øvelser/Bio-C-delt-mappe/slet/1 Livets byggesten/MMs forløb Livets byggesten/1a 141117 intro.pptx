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9" r:id="rId6"/>
    <p:sldId id="263" r:id="rId7"/>
    <p:sldId id="264" r:id="rId8"/>
    <p:sldId id="270" r:id="rId9"/>
    <p:sldId id="271" r:id="rId10"/>
    <p:sldId id="27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53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636AFB-5D32-4BA5-ABE1-67AEF92158D7}" type="datetimeFigureOut">
              <a:rPr lang="da-DK" smtClean="0"/>
              <a:t>14-11-2017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8FECD-7DCC-44AD-8E53-D4153A1044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4853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sz="1200" dirty="0" smtClean="0"/>
              <a:t>Uddel papir</a:t>
            </a:r>
          </a:p>
          <a:p>
            <a:r>
              <a:rPr lang="da-DK" sz="1200" dirty="0" smtClean="0"/>
              <a:t>Ingen hjælpemidler. 3 minutter</a:t>
            </a:r>
            <a:r>
              <a:rPr lang="da-DK" sz="1200" baseline="0" dirty="0" smtClean="0"/>
              <a:t> pr opgave.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98FECD-7DCC-44AD-8E53-D4153A104495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61494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smtClean="0"/>
              <a:t>Arbejd sammen i par. Tid til at læse og overveje hvert spørgsmål. Alle skal nå at svare.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98FECD-7DCC-44AD-8E53-D4153A104495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63770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11/14/2017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11/14/2017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11/14/2017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11/14/2017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11/14/2017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 smtClean="0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rt med citat og nav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dt eller fal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smtClean="0"/>
              <a:t>Velkommen til 1a - Biologi C </a:t>
            </a:r>
            <a:endParaRPr lang="da-DK" dirty="0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a-DK" sz="2400" dirty="0" smtClean="0"/>
              <a:t>1a/MM 2017-2018</a:t>
            </a:r>
            <a:endParaRPr lang="da-DK" sz="2400" dirty="0"/>
          </a:p>
        </p:txBody>
      </p:sp>
    </p:spTree>
    <p:extLst>
      <p:ext uri="{BB962C8B-B14F-4D97-AF65-F5344CB8AC3E}">
        <p14:creationId xmlns:p14="http://schemas.microsoft.com/office/powerpoint/2010/main" val="67432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9424198" cy="1320800"/>
          </a:xfrm>
        </p:spPr>
        <p:txBody>
          <a:bodyPr>
            <a:normAutofit fontScale="90000"/>
          </a:bodyPr>
          <a:lstStyle/>
          <a:p>
            <a:r>
              <a:rPr lang="da-DK" dirty="0" smtClean="0"/>
              <a:t>Hvad er biologi? </a:t>
            </a:r>
            <a:br>
              <a:rPr lang="da-DK" dirty="0" smtClean="0"/>
            </a:br>
            <a:r>
              <a:rPr lang="da-DK" dirty="0" smtClean="0"/>
              <a:t>Hvad forventer du vi kommer til at arbejde med?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800" dirty="0" smtClean="0"/>
              <a:t>Skriv i 3-5 minutter</a:t>
            </a:r>
          </a:p>
          <a:p>
            <a:r>
              <a:rPr lang="da-DK" sz="2800" dirty="0" smtClean="0"/>
              <a:t>Runde: Hvad har I skrevet?</a:t>
            </a:r>
            <a:br>
              <a:rPr lang="da-DK" sz="2800" dirty="0" smtClean="0"/>
            </a:br>
            <a:endParaRPr lang="da-DK" sz="2800" dirty="0" smtClean="0"/>
          </a:p>
          <a:p>
            <a:r>
              <a:rPr lang="da-DK" sz="2800" dirty="0" smtClean="0"/>
              <a:t>Kig i bogen s. 7-12. Læs figurtekster og læs hist og pist.</a:t>
            </a:r>
          </a:p>
          <a:p>
            <a:r>
              <a:rPr lang="da-DK" sz="2800" dirty="0" smtClean="0"/>
              <a:t>Er der noget, vi skal tilføje til oversigten over, hvad der hører til i biologiundervisningen?</a:t>
            </a:r>
            <a:endParaRPr lang="da-DK" sz="2800" dirty="0"/>
          </a:p>
        </p:txBody>
      </p:sp>
    </p:spTree>
    <p:extLst>
      <p:ext uri="{BB962C8B-B14F-4D97-AF65-F5344CB8AC3E}">
        <p14:creationId xmlns:p14="http://schemas.microsoft.com/office/powerpoint/2010/main" val="69875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Indhold i bogen Biologi til tiden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677334" y="1737360"/>
            <a:ext cx="6738450" cy="4304001"/>
          </a:xfrm>
        </p:spPr>
        <p:txBody>
          <a:bodyPr>
            <a:normAutofit/>
          </a:bodyPr>
          <a:lstStyle/>
          <a:p>
            <a:r>
              <a:rPr lang="da-DK" sz="2400" dirty="0" smtClean="0"/>
              <a:t>Grundbog: Biologi til tiden</a:t>
            </a:r>
          </a:p>
          <a:p>
            <a:r>
              <a:rPr lang="da-DK" sz="2400" dirty="0" smtClean="0"/>
              <a:t>S. 4-5: Emner – overskrifter. Brug denne oversigt!</a:t>
            </a:r>
          </a:p>
          <a:p>
            <a:r>
              <a:rPr lang="da-DK" sz="2400" dirty="0" smtClean="0"/>
              <a:t>Hvor finder man stikordsregistret?</a:t>
            </a:r>
          </a:p>
          <a:p>
            <a:r>
              <a:rPr lang="da-DK" sz="2400" dirty="0" smtClean="0"/>
              <a:t>Slå op på s. 13.</a:t>
            </a:r>
          </a:p>
          <a:p>
            <a:pPr lvl="1"/>
            <a:r>
              <a:rPr lang="da-DK" sz="2000" dirty="0" smtClean="0"/>
              <a:t>Hvorfor er nogle ord fremhævet med </a:t>
            </a:r>
            <a:r>
              <a:rPr lang="da-DK" sz="2000" dirty="0" smtClean="0">
                <a:solidFill>
                  <a:srgbClr val="FF0000"/>
                </a:solidFill>
              </a:rPr>
              <a:t>rødt</a:t>
            </a:r>
            <a:r>
              <a:rPr lang="da-DK" sz="2000" dirty="0" smtClean="0"/>
              <a:t>?</a:t>
            </a:r>
          </a:p>
          <a:p>
            <a:pPr lvl="1"/>
            <a:r>
              <a:rPr lang="da-DK" sz="2000" dirty="0" smtClean="0"/>
              <a:t>Hvorfor er nogle ord fremhævet med </a:t>
            </a:r>
            <a:r>
              <a:rPr lang="da-DK" sz="2000" dirty="0" smtClean="0">
                <a:solidFill>
                  <a:srgbClr val="0070C0"/>
                </a:solidFill>
              </a:rPr>
              <a:t>blåt</a:t>
            </a:r>
            <a:r>
              <a:rPr lang="da-DK" sz="2000" dirty="0" smtClean="0"/>
              <a:t>?</a:t>
            </a:r>
          </a:p>
          <a:p>
            <a:pPr lvl="1"/>
            <a:r>
              <a:rPr lang="da-DK" sz="2000" dirty="0" smtClean="0"/>
              <a:t>Figurer</a:t>
            </a:r>
            <a:endParaRPr lang="da-DK" sz="2000" dirty="0"/>
          </a:p>
        </p:txBody>
      </p:sp>
      <p:pic>
        <p:nvPicPr>
          <p:cNvPr id="3074" name="Picture 2" descr="Billedresultat for biologi til tiden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234" y="687740"/>
            <a:ext cx="3073536" cy="388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269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4800" dirty="0" smtClean="0"/>
              <a:t>Fugle</a:t>
            </a:r>
            <a:endParaRPr lang="da-DK" sz="4800" dirty="0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677334" y="1527048"/>
            <a:ext cx="7287090" cy="4663440"/>
          </a:xfrm>
        </p:spPr>
        <p:txBody>
          <a:bodyPr>
            <a:normAutofit fontScale="5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da-DK" sz="3800" dirty="0" smtClean="0"/>
              <a:t>Tegn en fugl!</a:t>
            </a:r>
          </a:p>
          <a:p>
            <a:pPr marL="457200" indent="-457200">
              <a:buFont typeface="+mj-lt"/>
              <a:buAutoNum type="arabicPeriod"/>
            </a:pPr>
            <a:r>
              <a:rPr lang="da-DK" sz="3800" dirty="0" smtClean="0"/>
              <a:t>Beskriv din fugl</a:t>
            </a:r>
          </a:p>
          <a:p>
            <a:pPr marL="457200" indent="-457200">
              <a:buFont typeface="+mj-lt"/>
              <a:buAutoNum type="arabicPeriod"/>
            </a:pPr>
            <a:r>
              <a:rPr lang="da-DK" sz="3800" dirty="0" smtClean="0"/>
              <a:t>Hvad karakteriserer en fugl? </a:t>
            </a:r>
            <a:br>
              <a:rPr lang="da-DK" sz="3800" dirty="0" smtClean="0"/>
            </a:br>
            <a:endParaRPr lang="da-DK" sz="3800" dirty="0" smtClean="0"/>
          </a:p>
          <a:p>
            <a:pPr>
              <a:buFont typeface="+mj-lt"/>
              <a:buAutoNum type="arabicPeriod"/>
            </a:pPr>
            <a:r>
              <a:rPr lang="da-DK" sz="3800" dirty="0" smtClean="0"/>
              <a:t>Individuelt</a:t>
            </a:r>
            <a:r>
              <a:rPr lang="da-DK" sz="3800" dirty="0"/>
              <a:t>: Skriv så mange fuglearter ned, som du kan komme i tanke om. </a:t>
            </a:r>
            <a:endParaRPr lang="da-DK" sz="3800" dirty="0" smtClean="0"/>
          </a:p>
          <a:p>
            <a:pPr>
              <a:buFont typeface="+mj-lt"/>
              <a:buAutoNum type="arabicPeriod"/>
            </a:pPr>
            <a:r>
              <a:rPr lang="da-DK" sz="3800" dirty="0" smtClean="0"/>
              <a:t>Tæl, hvor mange arter, du nåede frem til.</a:t>
            </a:r>
          </a:p>
          <a:p>
            <a:pPr>
              <a:buFont typeface="+mj-lt"/>
              <a:buAutoNum type="arabicPeriod"/>
            </a:pPr>
            <a:r>
              <a:rPr lang="da-DK" sz="3800" dirty="0" smtClean="0"/>
              <a:t>Gruppen</a:t>
            </a:r>
            <a:r>
              <a:rPr lang="da-DK" sz="3800" dirty="0"/>
              <a:t>: </a:t>
            </a:r>
          </a:p>
          <a:p>
            <a:pPr lvl="1">
              <a:buFont typeface="+mj-lt"/>
              <a:buAutoNum type="arabicPeriod"/>
            </a:pPr>
            <a:r>
              <a:rPr lang="da-DK" sz="3800" dirty="0"/>
              <a:t>Hvor mange gengangere?</a:t>
            </a:r>
          </a:p>
          <a:p>
            <a:pPr lvl="1">
              <a:buFont typeface="+mj-lt"/>
              <a:buAutoNum type="arabicPeriod"/>
            </a:pPr>
            <a:r>
              <a:rPr lang="da-DK" sz="3800" dirty="0"/>
              <a:t>Hvor mange arter tilsammen</a:t>
            </a:r>
            <a:r>
              <a:rPr lang="da-DK" sz="3800" dirty="0" smtClean="0"/>
              <a:t>?</a:t>
            </a:r>
            <a:endParaRPr lang="da-DK" sz="3800" dirty="0"/>
          </a:p>
          <a:p>
            <a:pPr>
              <a:buFont typeface="+mj-lt"/>
              <a:buAutoNum type="arabicPeriod"/>
            </a:pPr>
            <a:r>
              <a:rPr lang="da-DK" sz="3800" dirty="0"/>
              <a:t>Hvad viser dette om fordele </a:t>
            </a:r>
            <a:r>
              <a:rPr lang="da-DK" sz="3800"/>
              <a:t>ved </a:t>
            </a:r>
            <a:r>
              <a:rPr lang="da-DK" sz="3800" smtClean="0"/>
              <a:t>gruppearbejde? </a:t>
            </a:r>
            <a:endParaRPr lang="da-DK" sz="3800" dirty="0"/>
          </a:p>
          <a:p>
            <a:pPr>
              <a:buFont typeface="+mj-lt"/>
              <a:buAutoNum type="arabicPeriod"/>
            </a:pPr>
            <a:r>
              <a:rPr lang="da-DK" sz="3800" dirty="0"/>
              <a:t>Hvad viser det </a:t>
            </a:r>
            <a:r>
              <a:rPr lang="da-DK" sz="3800" dirty="0" smtClean="0"/>
              <a:t>om, </a:t>
            </a:r>
            <a:r>
              <a:rPr lang="da-DK" sz="3800" dirty="0"/>
              <a:t>hvilke </a:t>
            </a:r>
            <a:r>
              <a:rPr lang="da-DK" sz="3800" dirty="0" smtClean="0"/>
              <a:t>opgavetyper </a:t>
            </a:r>
            <a:r>
              <a:rPr lang="da-DK" sz="3800" dirty="0"/>
              <a:t>det er en fordel at arbejde sammen om</a:t>
            </a:r>
            <a:r>
              <a:rPr lang="da-DK" sz="3800" dirty="0" smtClean="0"/>
              <a:t>?</a:t>
            </a:r>
          </a:p>
        </p:txBody>
      </p:sp>
      <p:pic>
        <p:nvPicPr>
          <p:cNvPr id="2052" name="Picture 4" descr="https://comps.canstockphoto.dk/silhuet-fugl-eps-vector_csp9490964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074" y="1675956"/>
            <a:ext cx="3821983" cy="388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02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3712"/>
          </a:xfrm>
        </p:spPr>
        <p:txBody>
          <a:bodyPr>
            <a:normAutofit fontScale="90000"/>
          </a:bodyPr>
          <a:lstStyle/>
          <a:p>
            <a:r>
              <a:rPr lang="da-DK" dirty="0" smtClean="0"/>
              <a:t>Hvad skal vi lave? Undervisningsministeriet: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677334" y="1243585"/>
            <a:ext cx="8887290" cy="479777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da-DK" dirty="0" smtClean="0"/>
              <a:t>Kernestoffet </a:t>
            </a:r>
            <a:r>
              <a:rPr lang="da-DK" dirty="0"/>
              <a:t>er: </a:t>
            </a:r>
          </a:p>
          <a:p>
            <a:r>
              <a:rPr lang="da-DK" dirty="0" smtClean="0"/>
              <a:t>cellebiologi</a:t>
            </a:r>
            <a:r>
              <a:rPr lang="da-DK" dirty="0"/>
              <a:t>: overordnet opbygning af pro- og </a:t>
            </a:r>
            <a:r>
              <a:rPr lang="da-DK" dirty="0" err="1"/>
              <a:t>eucaryote</a:t>
            </a:r>
            <a:r>
              <a:rPr lang="da-DK" dirty="0"/>
              <a:t> celler og membranprocesser </a:t>
            </a:r>
          </a:p>
          <a:p>
            <a:r>
              <a:rPr lang="da-DK" dirty="0" smtClean="0"/>
              <a:t>mikrobiologi</a:t>
            </a:r>
            <a:r>
              <a:rPr lang="da-DK" dirty="0"/>
              <a:t>: vækst og vækstfaktorer </a:t>
            </a:r>
          </a:p>
          <a:p>
            <a:r>
              <a:rPr lang="da-DK" dirty="0" smtClean="0"/>
              <a:t>makromolekyler</a:t>
            </a:r>
            <a:r>
              <a:rPr lang="da-DK" dirty="0"/>
              <a:t>: overordnet opbygning og biologisk funktion af </a:t>
            </a:r>
            <a:r>
              <a:rPr lang="da-DK" dirty="0" err="1"/>
              <a:t>carbohydrater</a:t>
            </a:r>
            <a:r>
              <a:rPr lang="da-DK" dirty="0"/>
              <a:t>, lipider, proteiner og DNA </a:t>
            </a:r>
          </a:p>
          <a:p>
            <a:r>
              <a:rPr lang="da-DK" dirty="0" smtClean="0"/>
              <a:t>enzymer</a:t>
            </a:r>
            <a:r>
              <a:rPr lang="da-DK" dirty="0"/>
              <a:t>: overordnet opbygning og funktion </a:t>
            </a:r>
          </a:p>
          <a:p>
            <a:r>
              <a:rPr lang="da-DK" dirty="0" smtClean="0"/>
              <a:t>biokemiske </a:t>
            </a:r>
            <a:r>
              <a:rPr lang="da-DK" dirty="0"/>
              <a:t>processer: fotosyntese, respiration og gæring </a:t>
            </a:r>
          </a:p>
          <a:p>
            <a:r>
              <a:rPr lang="da-DK" dirty="0" smtClean="0"/>
              <a:t>genetik </a:t>
            </a:r>
            <a:r>
              <a:rPr lang="da-DK" dirty="0"/>
              <a:t>og molekylærbiologi: nedarvningsprincipper, det centrale dogme og mutation </a:t>
            </a:r>
          </a:p>
          <a:p>
            <a:r>
              <a:rPr lang="da-DK" dirty="0" smtClean="0"/>
              <a:t>evolutionsbiologi</a:t>
            </a:r>
            <a:r>
              <a:rPr lang="da-DK" dirty="0"/>
              <a:t>: eksempler på evolutionsmekanismer </a:t>
            </a:r>
          </a:p>
          <a:p>
            <a:r>
              <a:rPr lang="da-DK" dirty="0" smtClean="0"/>
              <a:t>fysiologi</a:t>
            </a:r>
            <a:r>
              <a:rPr lang="da-DK" dirty="0"/>
              <a:t>: Oversigt over kroppens organsystemer, et udvalgt organsystems opbygning og funktion, forplantning og hormonel regulering </a:t>
            </a:r>
          </a:p>
          <a:p>
            <a:r>
              <a:rPr lang="da-DK" dirty="0" smtClean="0"/>
              <a:t>økologi</a:t>
            </a:r>
            <a:r>
              <a:rPr lang="da-DK" dirty="0"/>
              <a:t>: samspil mellem arter og mellem arter og deres omgivende miljø, energistrømme, C-kredsløb og biodiversitet. 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421213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Hvad skal vi lave – og hvordan?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677334" y="1550505"/>
            <a:ext cx="8596668" cy="4820478"/>
          </a:xfrm>
        </p:spPr>
        <p:txBody>
          <a:bodyPr>
            <a:normAutofit/>
          </a:bodyPr>
          <a:lstStyle/>
          <a:p>
            <a:r>
              <a:rPr lang="da-DK" sz="2000" dirty="0" smtClean="0"/>
              <a:t>Temaer. </a:t>
            </a:r>
            <a:br>
              <a:rPr lang="da-DK" sz="2000" dirty="0" smtClean="0"/>
            </a:br>
            <a:r>
              <a:rPr lang="da-DK" sz="2000" dirty="0" smtClean="0"/>
              <a:t>Fælles for alle </a:t>
            </a:r>
            <a:r>
              <a:rPr lang="da-DK" sz="2000" dirty="0" err="1" smtClean="0"/>
              <a:t>biC</a:t>
            </a:r>
            <a:r>
              <a:rPr lang="da-DK" sz="2000" dirty="0" smtClean="0"/>
              <a:t>-hold </a:t>
            </a:r>
            <a:r>
              <a:rPr lang="da-DK" sz="2000" dirty="0" smtClean="0">
                <a:sym typeface="Wingdings" panose="05000000000000000000" pitchFamily="2" charset="2"/>
              </a:rPr>
              <a:t> ellers er det meget besværligt for dem, der vælger </a:t>
            </a:r>
            <a:r>
              <a:rPr lang="da-DK" sz="2000" dirty="0" err="1" smtClean="0">
                <a:sym typeface="Wingdings" panose="05000000000000000000" pitchFamily="2" charset="2"/>
              </a:rPr>
              <a:t>biB</a:t>
            </a:r>
            <a:r>
              <a:rPr lang="da-DK" sz="2000" dirty="0" smtClean="0">
                <a:sym typeface="Wingdings" panose="05000000000000000000" pitchFamily="2" charset="2"/>
              </a:rPr>
              <a:t>.</a:t>
            </a:r>
            <a:endParaRPr lang="da-DK" sz="2000" dirty="0" smtClean="0"/>
          </a:p>
          <a:p>
            <a:r>
              <a:rPr lang="da-DK" sz="2000" dirty="0" smtClean="0"/>
              <a:t>Øvelser (også ud af huset)</a:t>
            </a:r>
          </a:p>
          <a:p>
            <a:r>
              <a:rPr lang="da-DK" sz="2000" dirty="0" smtClean="0"/>
              <a:t>Skriftlige opgaver. 12 timers ”fordybelsestid”</a:t>
            </a:r>
          </a:p>
          <a:p>
            <a:r>
              <a:rPr lang="da-DK" sz="2000" dirty="0" smtClean="0"/>
              <a:t>Samarbejde med andre fag – i begrænset omfang!</a:t>
            </a:r>
          </a:p>
          <a:p>
            <a:pPr lvl="1"/>
            <a:r>
              <a:rPr lang="da-DK" sz="1800" dirty="0" smtClean="0"/>
              <a:t>Matematik</a:t>
            </a:r>
          </a:p>
          <a:p>
            <a:pPr lvl="1"/>
            <a:r>
              <a:rPr lang="da-DK" sz="1800" dirty="0" smtClean="0"/>
              <a:t>Fysik</a:t>
            </a:r>
          </a:p>
          <a:p>
            <a:r>
              <a:rPr lang="da-DK" sz="2000" dirty="0" smtClean="0"/>
              <a:t>Første tema: Livets byggesten</a:t>
            </a:r>
          </a:p>
          <a:p>
            <a:pPr lvl="1"/>
            <a:r>
              <a:rPr lang="da-DK" sz="1800" dirty="0" smtClean="0"/>
              <a:t>Om celler og mikrobiologi</a:t>
            </a:r>
          </a:p>
          <a:p>
            <a:pPr lvl="1"/>
            <a:r>
              <a:rPr lang="da-DK" sz="1800" dirty="0" smtClean="0"/>
              <a:t>Arbejde med tekst + laboratorieøvelser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71236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Organisering af dokumenter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400" dirty="0" smtClean="0"/>
              <a:t>Lektier </a:t>
            </a:r>
            <a:r>
              <a:rPr lang="da-DK" sz="2400" dirty="0" smtClean="0">
                <a:sym typeface="Wingdings" panose="05000000000000000000" pitchFamily="2" charset="2"/>
              </a:rPr>
              <a:t> Lectio</a:t>
            </a:r>
          </a:p>
          <a:p>
            <a:r>
              <a:rPr lang="da-DK" sz="2400" dirty="0" smtClean="0">
                <a:sym typeface="Wingdings" panose="05000000000000000000" pitchFamily="2" charset="2"/>
              </a:rPr>
              <a:t>Opgaver til lektien: Lectio, </a:t>
            </a:r>
            <a:r>
              <a:rPr lang="da-DK" sz="2400" dirty="0" err="1" smtClean="0">
                <a:sym typeface="Wingdings" panose="05000000000000000000" pitchFamily="2" charset="2"/>
              </a:rPr>
              <a:t>Edulife</a:t>
            </a:r>
            <a:endParaRPr lang="da-DK" sz="2400" dirty="0" smtClean="0">
              <a:sym typeface="Wingdings" panose="05000000000000000000" pitchFamily="2" charset="2"/>
            </a:endParaRPr>
          </a:p>
          <a:p>
            <a:r>
              <a:rPr lang="da-DK" sz="2400" dirty="0" smtClean="0">
                <a:sym typeface="Wingdings" panose="05000000000000000000" pitchFamily="2" charset="2"/>
              </a:rPr>
              <a:t>Opbevaring og organisering af dokumenter  </a:t>
            </a:r>
            <a:r>
              <a:rPr lang="da-DK" sz="2400" dirty="0" err="1" smtClean="0">
                <a:sym typeface="Wingdings" panose="05000000000000000000" pitchFamily="2" charset="2"/>
              </a:rPr>
              <a:t>Edulife</a:t>
            </a:r>
            <a:r>
              <a:rPr lang="da-DK" sz="2400" dirty="0" smtClean="0">
                <a:sym typeface="Wingdings" panose="05000000000000000000" pitchFamily="2" charset="2"/>
              </a:rPr>
              <a:t>, fælles rum for 1a Biologi (GRØN)</a:t>
            </a:r>
          </a:p>
          <a:p>
            <a:r>
              <a:rPr lang="da-DK" sz="2400" dirty="0" smtClean="0">
                <a:sym typeface="Wingdings" panose="05000000000000000000" pitchFamily="2" charset="2"/>
              </a:rPr>
              <a:t>Afleveringsmappe – kommer vi til at bruge senere</a:t>
            </a:r>
            <a:endParaRPr lang="da-DK" sz="2400" dirty="0"/>
          </a:p>
        </p:txBody>
      </p:sp>
    </p:spTree>
    <p:extLst>
      <p:ext uri="{BB962C8B-B14F-4D97-AF65-F5344CB8AC3E}">
        <p14:creationId xmlns:p14="http://schemas.microsoft.com/office/powerpoint/2010/main" val="2852866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b="1" dirty="0"/>
              <a:t>BTT s. </a:t>
            </a:r>
            <a:r>
              <a:rPr lang="da-DK" b="1" dirty="0" smtClean="0"/>
              <a:t>13: </a:t>
            </a:r>
            <a:r>
              <a:rPr lang="da-DK" b="1" dirty="0"/>
              <a:t>Levende </a:t>
            </a:r>
            <a:r>
              <a:rPr lang="da-DK" b="1" dirty="0" smtClean="0"/>
              <a:t>organismer</a:t>
            </a:r>
            <a:r>
              <a:rPr lang="da-DK" b="1" dirty="0"/>
              <a:t/>
            </a:r>
            <a:br>
              <a:rPr lang="da-DK" b="1" dirty="0"/>
            </a:b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677334" y="1463040"/>
            <a:ext cx="8009466" cy="5102352"/>
          </a:xfrm>
        </p:spPr>
        <p:txBody>
          <a:bodyPr>
            <a:normAutofit lnSpcReduction="10000"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da-DK" dirty="0" smtClean="0"/>
              <a:t>Hvordan </a:t>
            </a:r>
            <a:r>
              <a:rPr lang="da-DK" dirty="0"/>
              <a:t>skal vi definere levende organismer (til forskel fra ikke-levende</a:t>
            </a:r>
            <a:r>
              <a:rPr lang="da-DK" dirty="0" smtClean="0"/>
              <a:t>)?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da-DK" dirty="0" smtClean="0"/>
              <a:t>Livsytringer:</a:t>
            </a:r>
            <a:br>
              <a:rPr lang="da-DK" dirty="0" smtClean="0"/>
            </a:br>
            <a:r>
              <a:rPr lang="da-DK" dirty="0" smtClean="0"/>
              <a:t>- Kan </a:t>
            </a:r>
            <a:r>
              <a:rPr lang="da-DK" dirty="0"/>
              <a:t>optage </a:t>
            </a:r>
            <a:r>
              <a:rPr lang="da-DK" dirty="0" smtClean="0"/>
              <a:t>næring</a:t>
            </a:r>
            <a:br>
              <a:rPr lang="da-DK" dirty="0" smtClean="0"/>
            </a:br>
            <a:r>
              <a:rPr lang="da-DK" dirty="0" smtClean="0"/>
              <a:t>- Kan udføre </a:t>
            </a:r>
            <a:r>
              <a:rPr lang="da-DK" dirty="0"/>
              <a:t>ånding (respiration), </a:t>
            </a:r>
            <a:r>
              <a:rPr lang="da-DK" dirty="0" smtClean="0"/>
              <a:t/>
            </a:r>
            <a:br>
              <a:rPr lang="da-DK" dirty="0" smtClean="0"/>
            </a:br>
            <a:r>
              <a:rPr lang="da-DK" dirty="0" smtClean="0"/>
              <a:t>- Udskillelsesprocesser </a:t>
            </a:r>
            <a:r>
              <a:rPr lang="da-DK" dirty="0"/>
              <a:t>(</a:t>
            </a:r>
            <a:r>
              <a:rPr lang="da-DK" dirty="0" err="1"/>
              <a:t>ekskretion</a:t>
            </a:r>
            <a:r>
              <a:rPr lang="da-DK" dirty="0"/>
              <a:t>)</a:t>
            </a:r>
            <a:br>
              <a:rPr lang="da-DK" dirty="0"/>
            </a:br>
            <a:r>
              <a:rPr lang="da-DK" dirty="0"/>
              <a:t>- </a:t>
            </a:r>
            <a:r>
              <a:rPr lang="da-DK" dirty="0" smtClean="0"/>
              <a:t>De vokser </a:t>
            </a:r>
            <a:r>
              <a:rPr lang="da-DK" dirty="0"/>
              <a:t>og formerer </a:t>
            </a:r>
            <a:r>
              <a:rPr lang="da-DK" dirty="0" smtClean="0"/>
              <a:t>sig</a:t>
            </a:r>
            <a:br>
              <a:rPr lang="da-DK" dirty="0" smtClean="0"/>
            </a:br>
            <a:r>
              <a:rPr lang="da-DK" dirty="0" smtClean="0"/>
              <a:t>- Som regel: Sanser/reagerer på deres omverden</a:t>
            </a:r>
            <a:br>
              <a:rPr lang="da-DK" dirty="0" smtClean="0"/>
            </a:br>
            <a:r>
              <a:rPr lang="da-DK" dirty="0" smtClean="0"/>
              <a:t>- Ofte: Bevægelse</a:t>
            </a:r>
            <a:r>
              <a:rPr lang="da-DK" dirty="0"/>
              <a:t/>
            </a:r>
            <a:br>
              <a:rPr lang="da-DK" dirty="0"/>
            </a:br>
            <a:endParaRPr lang="da-DK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da-DK" dirty="0"/>
              <a:t>Den mindste levende enhed kalder vi en celle. Hvilke organismer kender I, der består af kun 1 celle? </a:t>
            </a:r>
            <a:endParaRPr lang="da-DK" dirty="0" smtClean="0"/>
          </a:p>
          <a:p>
            <a:pPr lvl="0">
              <a:buFont typeface="Wingdings" panose="05000000000000000000" pitchFamily="2" charset="2"/>
              <a:buChar char="Ø"/>
            </a:pPr>
            <a:r>
              <a:rPr lang="da-DK" dirty="0" smtClean="0"/>
              <a:t>Mikroorganismer</a:t>
            </a:r>
            <a:r>
              <a:rPr lang="da-DK" dirty="0"/>
              <a:t>, f.eks. </a:t>
            </a:r>
            <a:r>
              <a:rPr lang="da-DK" dirty="0" smtClean="0"/>
              <a:t>Bakterier – plankton – gærceller – hjuldyr</a:t>
            </a:r>
            <a:br>
              <a:rPr lang="da-DK" dirty="0" smtClean="0"/>
            </a:br>
            <a:endParaRPr lang="da-DK" dirty="0" smtClean="0"/>
          </a:p>
          <a:p>
            <a:pPr lvl="0">
              <a:buFont typeface="Wingdings" panose="05000000000000000000" pitchFamily="2" charset="2"/>
              <a:buChar char="Ø"/>
            </a:pPr>
            <a:r>
              <a:rPr lang="da-DK" dirty="0" smtClean="0"/>
              <a:t>Hvor </a:t>
            </a:r>
            <a:r>
              <a:rPr lang="da-DK" dirty="0"/>
              <a:t>mange celler består mennesket af? </a:t>
            </a:r>
            <a:endParaRPr lang="da-DK" dirty="0" smtClean="0"/>
          </a:p>
          <a:p>
            <a:pPr lvl="0">
              <a:buFont typeface="Wingdings" panose="05000000000000000000" pitchFamily="2" charset="2"/>
              <a:buChar char="Ø"/>
            </a:pPr>
            <a:r>
              <a:rPr lang="da-DK" dirty="0" smtClean="0"/>
              <a:t>10</a:t>
            </a:r>
            <a:r>
              <a:rPr lang="da-DK" baseline="30000" dirty="0" smtClean="0"/>
              <a:t>14</a:t>
            </a:r>
            <a:endParaRPr lang="da-DK" dirty="0"/>
          </a:p>
        </p:txBody>
      </p:sp>
      <p:pic>
        <p:nvPicPr>
          <p:cNvPr id="1032" name="Picture 8" descr="https://www.waterbears.dk/images/Protozo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2415" y="3218655"/>
            <a:ext cx="2667000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s://www.waterbears.dk/images/Desmid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2415" y="751680"/>
            <a:ext cx="2667000" cy="2009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077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9160"/>
          </a:xfrm>
        </p:spPr>
        <p:txBody>
          <a:bodyPr/>
          <a:lstStyle/>
          <a:p>
            <a:r>
              <a:rPr lang="da-DK" dirty="0" smtClean="0"/>
              <a:t>Levende organismer - fortsat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da-DK" sz="2000" dirty="0" smtClean="0"/>
              <a:t>Hvad betyder </a:t>
            </a:r>
            <a:r>
              <a:rPr lang="da-DK" sz="2000" i="1" dirty="0" smtClean="0"/>
              <a:t>stofskifte</a:t>
            </a:r>
            <a:r>
              <a:rPr lang="da-DK" sz="2000" dirty="0" smtClean="0"/>
              <a:t>?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da-DK" sz="2000" dirty="0" smtClean="0"/>
              <a:t>Kemiske reaktioner </a:t>
            </a:r>
            <a:r>
              <a:rPr lang="da-DK" sz="2000" dirty="0" smtClean="0">
                <a:sym typeface="Wingdings" panose="05000000000000000000" pitchFamily="2" charset="2"/>
              </a:rPr>
              <a:t> stoffer omdannes.</a:t>
            </a:r>
            <a:br>
              <a:rPr lang="da-DK" sz="2000" dirty="0" smtClean="0">
                <a:sym typeface="Wingdings" panose="05000000000000000000" pitchFamily="2" charset="2"/>
              </a:rPr>
            </a:br>
            <a:r>
              <a:rPr lang="da-DK" sz="2000" dirty="0" smtClean="0">
                <a:sym typeface="Wingdings" panose="05000000000000000000" pitchFamily="2" charset="2"/>
              </a:rPr>
              <a:t>De vigtigste eksempler: Næringsoptagelse – respiration – </a:t>
            </a:r>
            <a:r>
              <a:rPr lang="da-DK" sz="2000" dirty="0" err="1" smtClean="0">
                <a:sym typeface="Wingdings" panose="05000000000000000000" pitchFamily="2" charset="2"/>
              </a:rPr>
              <a:t>ekskretion</a:t>
            </a:r>
            <a:r>
              <a:rPr lang="da-DK" sz="2000" dirty="0" smtClean="0">
                <a:sym typeface="Wingdings" panose="05000000000000000000" pitchFamily="2" charset="2"/>
              </a:rPr>
              <a:t>.</a:t>
            </a:r>
            <a:br>
              <a:rPr lang="da-DK" sz="2000" dirty="0" smtClean="0">
                <a:sym typeface="Wingdings" panose="05000000000000000000" pitchFamily="2" charset="2"/>
              </a:rPr>
            </a:br>
            <a:endParaRPr lang="da-DK" sz="2000" dirty="0" smtClean="0">
              <a:sym typeface="Wingdings" panose="05000000000000000000" pitchFamily="2" charset="2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da-DK" sz="2000" dirty="0" smtClean="0"/>
              <a:t>Hvad er </a:t>
            </a:r>
            <a:r>
              <a:rPr lang="da-DK" sz="2000" i="1" dirty="0" smtClean="0"/>
              <a:t>DNA</a:t>
            </a:r>
            <a:r>
              <a:rPr lang="da-DK" sz="2000" dirty="0" smtClean="0"/>
              <a:t>?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da-DK" sz="2000" dirty="0" smtClean="0"/>
              <a:t>Vores arvemateriale. ”Opskriften” på alt i vores krop.</a:t>
            </a:r>
            <a:r>
              <a:rPr lang="da-DK" dirty="0" smtClean="0"/>
              <a:t/>
            </a:r>
            <a:br>
              <a:rPr lang="da-DK" dirty="0" smtClean="0"/>
            </a:br>
            <a:endParaRPr lang="da-DK" dirty="0" smtClean="0"/>
          </a:p>
        </p:txBody>
      </p:sp>
    </p:spTree>
    <p:extLst>
      <p:ext uri="{BB962C8B-B14F-4D97-AF65-F5344CB8AC3E}">
        <p14:creationId xmlns:p14="http://schemas.microsoft.com/office/powerpoint/2010/main" val="4024427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Levende organismer - fortsat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677334" y="1499617"/>
            <a:ext cx="8596668" cy="4541746"/>
          </a:xfrm>
        </p:spPr>
        <p:txBody>
          <a:bodyPr>
            <a:no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da-DK" sz="2400" dirty="0"/>
              <a:t>Hvordan definerer man en </a:t>
            </a:r>
            <a:r>
              <a:rPr lang="da-DK" sz="2400" i="1" dirty="0"/>
              <a:t>art</a:t>
            </a:r>
            <a:r>
              <a:rPr lang="da-DK" sz="2400" dirty="0"/>
              <a:t>?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da-DK" sz="2400" dirty="0" smtClean="0"/>
              <a:t>Individer </a:t>
            </a:r>
            <a:r>
              <a:rPr lang="da-DK" sz="2400" dirty="0"/>
              <a:t>som kan formerer sig med hinanden og få fertilt afkom (dvs. afkom som selv kan formere sig)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da-DK" sz="2400" dirty="0"/>
              <a:t>Tilhører en </a:t>
            </a:r>
            <a:r>
              <a:rPr lang="da-DK" sz="2400" dirty="0" err="1"/>
              <a:t>Sct.Bernhardshund</a:t>
            </a:r>
            <a:r>
              <a:rPr lang="da-DK" sz="2400" dirty="0"/>
              <a:t> og en gravhund samme art? </a:t>
            </a:r>
            <a:endParaRPr lang="da-DK" sz="2400" dirty="0" smtClean="0"/>
          </a:p>
          <a:p>
            <a:pPr lvl="0">
              <a:buFont typeface="Wingdings" panose="05000000000000000000" pitchFamily="2" charset="2"/>
              <a:buChar char="Ø"/>
            </a:pPr>
            <a:r>
              <a:rPr lang="da-DK" sz="2400" dirty="0" smtClean="0"/>
              <a:t>Ja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da-DK" sz="2400" dirty="0" smtClean="0"/>
              <a:t>Tilhører </a:t>
            </a:r>
            <a:r>
              <a:rPr lang="da-DK" sz="2400" dirty="0"/>
              <a:t>en zebra og en hest samme art? </a:t>
            </a:r>
            <a:endParaRPr lang="da-DK" sz="2400" dirty="0" smtClean="0"/>
          </a:p>
          <a:p>
            <a:pPr lvl="0">
              <a:buFont typeface="Wingdings" panose="05000000000000000000" pitchFamily="2" charset="2"/>
              <a:buChar char="Ø"/>
            </a:pPr>
            <a:r>
              <a:rPr lang="da-DK" sz="2400" dirty="0" smtClean="0"/>
              <a:t>Nej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da-DK" sz="2400" dirty="0" smtClean="0"/>
              <a:t>Tilhører </a:t>
            </a:r>
            <a:r>
              <a:rPr lang="da-DK" sz="2400" dirty="0"/>
              <a:t>et menneske fra Afrika og et fra Europa samme art? </a:t>
            </a:r>
            <a:endParaRPr lang="da-DK" sz="2400" dirty="0" smtClean="0"/>
          </a:p>
          <a:p>
            <a:pPr lvl="0">
              <a:buFont typeface="Wingdings" panose="05000000000000000000" pitchFamily="2" charset="2"/>
              <a:buChar char="Ø"/>
            </a:pPr>
            <a:r>
              <a:rPr lang="da-DK" sz="2400" dirty="0" smtClean="0"/>
              <a:t>Ja</a:t>
            </a:r>
            <a:endParaRPr lang="da-DK" sz="2400" dirty="0"/>
          </a:p>
        </p:txBody>
      </p:sp>
    </p:spTree>
    <p:extLst>
      <p:ext uri="{BB962C8B-B14F-4D97-AF65-F5344CB8AC3E}">
        <p14:creationId xmlns:p14="http://schemas.microsoft.com/office/powerpoint/2010/main" val="332411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105</TotalTime>
  <Words>374</Words>
  <Application>Microsoft Office PowerPoint</Application>
  <PresentationFormat>Widescreen</PresentationFormat>
  <Paragraphs>78</Paragraphs>
  <Slides>10</Slides>
  <Notes>2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10</vt:i4>
      </vt:variant>
    </vt:vector>
  </HeadingPairs>
  <TitlesOfParts>
    <vt:vector size="16" baseType="lpstr">
      <vt:lpstr>Arial</vt:lpstr>
      <vt:lpstr>Calibri</vt:lpstr>
      <vt:lpstr>Trebuchet MS</vt:lpstr>
      <vt:lpstr>Wingdings</vt:lpstr>
      <vt:lpstr>Wingdings 3</vt:lpstr>
      <vt:lpstr>Facet</vt:lpstr>
      <vt:lpstr>Velkommen til 1a - Biologi C </vt:lpstr>
      <vt:lpstr>Hvad er biologi?  Hvad forventer du vi kommer til at arbejde med?</vt:lpstr>
      <vt:lpstr>Indhold i bogen Biologi til tiden</vt:lpstr>
      <vt:lpstr>Fugle</vt:lpstr>
      <vt:lpstr>Hvad skal vi lave? Undervisningsministeriet:</vt:lpstr>
      <vt:lpstr>Hvad skal vi lave – og hvordan?</vt:lpstr>
      <vt:lpstr>Organisering af dokumenter</vt:lpstr>
      <vt:lpstr>BTT s. 13: Levende organismer </vt:lpstr>
      <vt:lpstr>Levende organismer - fortsat</vt:lpstr>
      <vt:lpstr>Levende organismer - fortsat</vt:lpstr>
    </vt:vector>
  </TitlesOfParts>
  <Company>IT-Center Fyn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Biologi C </dc:title>
  <dc:creator>Mette Mark</dc:creator>
  <cp:lastModifiedBy>Mette Mark</cp:lastModifiedBy>
  <cp:revision>13</cp:revision>
  <dcterms:created xsi:type="dcterms:W3CDTF">2017-11-13T20:48:37Z</dcterms:created>
  <dcterms:modified xsi:type="dcterms:W3CDTF">2017-11-14T10:13:04Z</dcterms:modified>
</cp:coreProperties>
</file>