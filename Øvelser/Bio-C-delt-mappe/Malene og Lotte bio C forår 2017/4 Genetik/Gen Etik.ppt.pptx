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indholdsobjek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, ét indholdsobjekt og to indholdsobjekter" type="objAndTwoObj">
  <p:cSld name="OBJECT_AND_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 indholdsobjekter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ret titel og tekst" type="vertTitleAndTx">
  <p:cSld name="VERTICAL_TITLE_AND_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og lodret teks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lede med billedtekst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hold med billedtekst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t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un titel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snitsoverskrift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7.jpg"/><Relationship Id="rId5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8.png"/><Relationship Id="rId5" Type="http://schemas.openxmlformats.org/officeDocument/2006/relationships/image" Target="../media/image10.jpg"/><Relationship Id="rId6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4.jpg"/><Relationship Id="rId5" Type="http://schemas.openxmlformats.org/officeDocument/2006/relationships/image" Target="../media/image24.jpg"/><Relationship Id="rId6" Type="http://schemas.openxmlformats.org/officeDocument/2006/relationships/image" Target="../media/image3.jpg"/><Relationship Id="rId7" Type="http://schemas.openxmlformats.org/officeDocument/2006/relationships/image" Target="../media/image17.jpg"/><Relationship Id="rId8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g"/><Relationship Id="rId4" Type="http://schemas.openxmlformats.org/officeDocument/2006/relationships/image" Target="../media/image2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jpg"/><Relationship Id="rId4" Type="http://schemas.openxmlformats.org/officeDocument/2006/relationships/image" Target="../media/image2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Relationship Id="rId4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Relationship Id="rId4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jpg"/><Relationship Id="rId4" Type="http://schemas.openxmlformats.org/officeDocument/2006/relationships/image" Target="../media/image3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jpg"/><Relationship Id="rId4" Type="http://schemas.openxmlformats.org/officeDocument/2006/relationships/image" Target="../media/image3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solidFill>
            <a:srgbClr val="FF0000"/>
          </a:solidFill>
          <a:ln cap="flat" cmpd="sng" w="762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Anvendt genetik og gen-etik</a:t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 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Forår 2010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Charlotte Skov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Genetik har mange anvendelser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1524000" y="1600200"/>
            <a:ext cx="6019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Screening for sygdomme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Kunstig befrugtning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Personidentificering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Gensplejsning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Kloning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Avlsprogrammer (Eugenik)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”Jurassic Park”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Screening for sygdomme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2895600" y="5638800"/>
            <a:ext cx="3505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Billede fra en ultralydsscanning</a:t>
            </a:r>
            <a:endParaRPr/>
          </a:p>
        </p:txBody>
      </p:sp>
      <p:pic>
        <p:nvPicPr>
          <p:cNvPr descr="18 Week Ultrasound scan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371600"/>
            <a:ext cx="5715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838200" lvl="0" marL="838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Down syndrom (trisomi 21)</a:t>
            </a:r>
            <a:endParaRPr/>
          </a:p>
        </p:txBody>
      </p:sp>
      <p:pic>
        <p:nvPicPr>
          <p:cNvPr descr="child-boy-with-downs-syndrome-FC5101-19LG" id="112" name="Google Shape;11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3963987" cy="4983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 mand" id="113" name="Google Shape;113;p1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1447800"/>
            <a:ext cx="26289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 kvinde" id="114" name="Google Shape;114;p17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400" y="3733800"/>
            <a:ext cx="3687762" cy="28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Turner           Klinefelter</a:t>
            </a:r>
            <a:endParaRPr/>
          </a:p>
        </p:txBody>
      </p:sp>
      <p:pic>
        <p:nvPicPr>
          <p:cNvPr descr="g-human-04" id="120" name="Google Shape;120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4308475" cy="4903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-human-10" id="121" name="Google Shape;121;p1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524000"/>
            <a:ext cx="3943350" cy="484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Screening for sygdomme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Risiko for abort ved undersøgelse af fostervand eller moderkage =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1:100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Levendefødte børn med kromosomfejl: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Down syndrom =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1:700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børn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Klinefelter syndrom =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1:1000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drenge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Turner syndrom =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1:2500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piger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Screening for sygdomme</a:t>
            </a:r>
            <a:endParaRPr/>
          </a:p>
        </p:txBody>
      </p:sp>
      <p:pic>
        <p:nvPicPr>
          <p:cNvPr descr="AI2008Winter-2T[1].jpg" id="133" name="Google Shape;133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267200"/>
            <a:ext cx="18002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2590800" y="1447800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Rødt hår</a:t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3200400" y="4572000"/>
            <a:ext cx="1295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Brogethed</a:t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2438400" y="6172200"/>
            <a:ext cx="1295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Albinisme</a:t>
            </a:r>
            <a:endParaRPr/>
          </a:p>
        </p:txBody>
      </p:sp>
      <p:pic>
        <p:nvPicPr>
          <p:cNvPr descr="P:\Charlotte Skov\Billeder af genetiske anomalier\12fingre-454x308[1].png" id="137" name="Google Shape;1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1295400"/>
            <a:ext cx="35941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3124200" y="2667000"/>
            <a:ext cx="1600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Flerfingrethed</a:t>
            </a:r>
            <a:endParaRPr/>
          </a:p>
        </p:txBody>
      </p:sp>
      <p:pic>
        <p:nvPicPr>
          <p:cNvPr descr="Buzz2j[1].jpg" id="139" name="Google Shape;139;p20"/>
          <p:cNvPicPr preferRelativeResize="0"/>
          <p:nvPr>
            <p:ph idx="2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1219200"/>
            <a:ext cx="221932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:\Charlotte Skov\Billeder af genetiske anomalier\piebaldism_2_020310[1].png" id="140" name="Google Shape;14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5800" y="3962400"/>
            <a:ext cx="40386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Screening for sygdomme</a:t>
            </a:r>
            <a:endParaRPr/>
          </a:p>
        </p:txBody>
      </p:sp>
      <p:pic>
        <p:nvPicPr>
          <p:cNvPr descr="LGjessica356458497_2gRMP-O-1.jpg" id="146" name="Google Shape;14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162" y="1600200"/>
            <a:ext cx="6035675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1219200" y="6096000"/>
            <a:ext cx="7162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Jessica Cox er født uden arme, men har taget flycertifikat i 2008!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Screening for sygdomme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2514600" y="5638800"/>
            <a:ext cx="3962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Fremtiden: et personligt gen-kort</a:t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971800" y="3352800"/>
            <a:ext cx="3276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Indsaet figur af karyotype med arvelige sygdomme markeret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 Kunstig befrugtning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Inseminering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- med egen sæd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- med sæd fra sædbank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Reagensglasbefrugtning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- med egne æg og egen sæd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- med donoræg / donorsæd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- med rugemor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 Kunstig befrugtning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914400" y="5791200"/>
            <a:ext cx="2895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Reagensglas / petriskål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4876800" y="5791200"/>
            <a:ext cx="2667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Louise Brown, født 1978</a:t>
            </a:r>
            <a:endParaRPr/>
          </a:p>
        </p:txBody>
      </p:sp>
      <p:pic>
        <p:nvPicPr>
          <p:cNvPr descr="http://t2.gstatic.com/images?q=tbn:V8Xe-AXWpQUo7M:http://www.captoy.dk/img/products/1431.jpg" id="169" name="Google Shape;1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038600"/>
            <a:ext cx="17462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t2.gstatic.com/images?q=tbn:eoVyAPXz7OwQmM:http://www.arlingtonscientific.com/download/123321_U131983__200371/Blue%2520Test%2520Tube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810000"/>
            <a:ext cx="1209675" cy="18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2845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uise Brown and her son Cameron" id="172" name="Google Shape;1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3962400"/>
            <a:ext cx="21526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tility institute of new jersey" id="173" name="Google Shape;1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1524000"/>
            <a:ext cx="1752600" cy="1849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sgrh.com/dept/ivf/images/Day-3%208%20cell%20embryos%20after%20In%20Vitro%20Fertilization%20(IVF).jpg" id="174" name="Google Shape;17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7000" y="1371600"/>
            <a:ext cx="29718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sgrh.com/dept/ivf/images/Pic%204.%20Cryopreserved%20Embryos.jpg" id="175" name="Google Shape;17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1447800"/>
            <a:ext cx="2743200" cy="20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 Kunstig befrugtning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“Octomom” har nu 14 reagensglasbørn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PGD = Preimplantation Genetic Diagnosis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Ekstra materiale nedfryses til senere…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 Personidentificering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Retsmedicin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Slægtsskabsanalyse (faderskabssager, arv)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Forbrydelser (voldtægt, mord, evt. indbrud)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Frikendelse af uskyldigt dømte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Identifikation af dødsofre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 Personidentificering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5029200" y="5562600"/>
            <a:ext cx="3352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Maria Møller Christensen, voldtaget og dræbt nytårsaften</a:t>
            </a:r>
            <a:endParaRPr/>
          </a:p>
        </p:txBody>
      </p:sp>
      <p:sp>
        <p:nvSpPr>
          <p:cNvPr id="194" name="Google Shape;194;p27"/>
          <p:cNvSpPr txBox="1"/>
          <p:nvPr/>
        </p:nvSpPr>
        <p:spPr>
          <a:xfrm>
            <a:off x="4724400" y="5257800"/>
            <a:ext cx="3657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762000" y="5181600"/>
            <a:ext cx="3276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Faderskabs gel-elektroforese</a:t>
            </a:r>
            <a:endParaRPr/>
          </a:p>
        </p:txBody>
      </p:sp>
      <p:pic>
        <p:nvPicPr>
          <p:cNvPr descr="http://t0.gstatic.com/images?q=tbn:2BysAOYBsRMiDM:http://images.nordjyske.dk/01-2010/678a82b9-9f0c-4c8e-ace4-3e095aafb390_top.jpg" id="196" name="Google Shape;1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524000"/>
            <a:ext cx="1428750" cy="173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" id="197" name="Google Shape;1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3352800"/>
            <a:ext cx="285750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NA Paternity Testing Simulation Biosampler - Click Image to Close" id="198" name="Google Shape;1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828800"/>
            <a:ext cx="38100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 Personidentificering</a:t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685800" y="5257800"/>
            <a:ext cx="3429000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Donald Eugene Gates, frikendt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efter 28 år som uskyldigt dømt</a:t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5029200" y="5257800"/>
            <a:ext cx="2743200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Dødsofre for katastrofe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Her: tsunamien i 2004</a:t>
            </a:r>
            <a:endParaRPr/>
          </a:p>
        </p:txBody>
      </p:sp>
      <p:pic>
        <p:nvPicPr>
          <p:cNvPr descr="Donald Gates" id="206" name="Google Shape;2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048000"/>
            <a:ext cx="3048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journeywithjesus.net/Essays/tsunami_victims_sm.jpg" id="207" name="Google Shape;2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743200"/>
            <a:ext cx="3068637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/>
        </p:nvSpPr>
        <p:spPr>
          <a:xfrm>
            <a:off x="609600" y="1600200"/>
            <a:ext cx="36576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FBI forensic analyst Michael Malone testified at Gates’ trial that </a:t>
            </a:r>
            <a:r>
              <a:rPr b="0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hairs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the crime scene were </a:t>
            </a:r>
            <a:r>
              <a:rPr b="0" i="0" lang="en-US" sz="16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"microscopically indistinguishable"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Gates’ hairs. 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 Gensplejsning</a:t>
            </a:r>
            <a:endParaRPr/>
          </a:p>
        </p:txBody>
      </p:sp>
      <p:sp>
        <p:nvSpPr>
          <p:cNvPr id="214" name="Google Shape;214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GMO = genetisk modificerede organismer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Transgene organismer (dyr, planter m.m.)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Menneskegener indsat i ikke-mennesker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Pharming = Pharmaceuticals + Farming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 Gensplejsning</a:t>
            </a:r>
            <a:endParaRPr/>
          </a:p>
        </p:txBody>
      </p:sp>
      <p:sp>
        <p:nvSpPr>
          <p:cNvPr id="220" name="Google Shape;220;p30"/>
          <p:cNvSpPr txBox="1"/>
          <p:nvPr/>
        </p:nvSpPr>
        <p:spPr>
          <a:xfrm>
            <a:off x="1524000" y="5410200"/>
            <a:ext cx="2819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Gensplejset sojamark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5943600" y="5410200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Transgen gris</a:t>
            </a:r>
            <a:endParaRPr/>
          </a:p>
        </p:txBody>
      </p:sp>
      <p:pic>
        <p:nvPicPr>
          <p:cNvPr descr="worldwide-increase-in-gm-crops-report-shows-1.jpg" id="222" name="Google Shape;2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09800"/>
            <a:ext cx="4038600" cy="298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" id="223" name="Google Shape;22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2590800"/>
            <a:ext cx="284797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 Gensplejsning</a:t>
            </a:r>
            <a:endParaRPr/>
          </a:p>
        </p:txBody>
      </p:sp>
      <p:sp>
        <p:nvSpPr>
          <p:cNvPr id="229" name="Google Shape;229;p31"/>
          <p:cNvSpPr txBox="1"/>
          <p:nvPr/>
        </p:nvSpPr>
        <p:spPr>
          <a:xfrm>
            <a:off x="609600" y="5562600"/>
            <a:ext cx="3352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Bioreaktor til energiproduktion</a:t>
            </a: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5257800" y="5562600"/>
            <a:ext cx="1905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Proteinet insulin</a:t>
            </a:r>
            <a:endParaRPr/>
          </a:p>
        </p:txBody>
      </p:sp>
      <p:pic>
        <p:nvPicPr>
          <p:cNvPr descr="Bioreaktor" id="231" name="Google Shape;2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76400"/>
            <a:ext cx="2555875" cy="372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of Insulin" id="232" name="Google Shape;2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2057400"/>
            <a:ext cx="333375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 Gensplejsning</a:t>
            </a:r>
            <a:endParaRPr/>
          </a:p>
        </p:txBody>
      </p:sp>
      <p:sp>
        <p:nvSpPr>
          <p:cNvPr id="238" name="Google Shape;238;p32"/>
          <p:cNvSpPr txBox="1"/>
          <p:nvPr/>
        </p:nvSpPr>
        <p:spPr>
          <a:xfrm>
            <a:off x="838200" y="5486400"/>
            <a:ext cx="3276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Agersennep, en ukrudtsplante</a:t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5334000" y="5486400"/>
            <a:ext cx="2590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Monark sommerfugl</a:t>
            </a:r>
            <a:endParaRPr/>
          </a:p>
        </p:txBody>
      </p:sp>
      <p:pic>
        <p:nvPicPr>
          <p:cNvPr descr="Monark" id="240" name="Google Shape;240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600200"/>
            <a:ext cx="4038600" cy="3640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fiberinternet.dk/perhansen/agersennep.jpg" id="241" name="Google Shape;2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600200"/>
            <a:ext cx="3157537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5.  Kloning</a:t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Tre hovedtyper: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Embryonal kloning	(énæggede tvillinger)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Somatisk kloning     	(fåret Dolly)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Terapeutisk kloning    	(gen-terapi)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5.  Kloning</a:t>
            </a:r>
            <a:endParaRPr/>
          </a:p>
        </p:txBody>
      </p:sp>
      <p:sp>
        <p:nvSpPr>
          <p:cNvPr id="253" name="Google Shape;253;p34"/>
          <p:cNvSpPr txBox="1"/>
          <p:nvPr/>
        </p:nvSpPr>
        <p:spPr>
          <a:xfrm>
            <a:off x="1295400" y="5486400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Jordbærplante-udløber</a:t>
            </a:r>
            <a:endParaRPr/>
          </a:p>
        </p:txBody>
      </p:sp>
      <p:sp>
        <p:nvSpPr>
          <p:cNvPr id="254" name="Google Shape;254;p34"/>
          <p:cNvSpPr txBox="1"/>
          <p:nvPr/>
        </p:nvSpPr>
        <p:spPr>
          <a:xfrm>
            <a:off x="5715000" y="5486400"/>
            <a:ext cx="2286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Dolly med sit lam</a:t>
            </a:r>
            <a:endParaRPr/>
          </a:p>
        </p:txBody>
      </p:sp>
      <p:pic>
        <p:nvPicPr>
          <p:cNvPr descr="strawberry runners" id="255" name="Google Shape;25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362200"/>
            <a:ext cx="3810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lly the sheep" id="256" name="Google Shape;25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133600"/>
            <a:ext cx="3255962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6.  Avlsprogrammer (Eugenik)</a:t>
            </a:r>
            <a:endParaRPr/>
          </a:p>
        </p:txBody>
      </p:sp>
      <p:pic>
        <p:nvPicPr>
          <p:cNvPr descr="I maa selv slaas om det" id="262" name="Google Shape;262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62137"/>
            <a:ext cx="4038600" cy="4002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kidemanden" id="263" name="Google Shape;263;p35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0462" y="1600200"/>
            <a:ext cx="3394075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 txBox="1"/>
          <p:nvPr/>
        </p:nvSpPr>
        <p:spPr>
          <a:xfrm>
            <a:off x="685800" y="5867400"/>
            <a:ext cx="3733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Sibirsk eller Amur tiger par i Zoo</a:t>
            </a:r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5181600" y="6172200"/>
            <a:ext cx="3124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 gøgeurt, dansk orkidé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6.  Avlsprogrammer (Eugenik)</a:t>
            </a:r>
            <a:endParaRPr/>
          </a:p>
        </p:txBody>
      </p:sp>
      <p:sp>
        <p:nvSpPr>
          <p:cNvPr id="271" name="Google Shape;271;p3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Tidligere: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Tvangssterilisering af åndssvage i Danmark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Hitler: jødeforfølgelse. Ideal: arisk race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Sorte (afrikanere) anset for “lavere” race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Fremtiden: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“Designer babyer” / “genetic enhancement”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Fagre nye Verden med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GenRich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og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?!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6.  Avlsprogrammer (Eugenik)</a:t>
            </a:r>
            <a:endParaRPr/>
          </a:p>
        </p:txBody>
      </p:sp>
      <p:sp>
        <p:nvSpPr>
          <p:cNvPr id="277" name="Google Shape;277;p37"/>
          <p:cNvSpPr txBox="1"/>
          <p:nvPr/>
        </p:nvSpPr>
        <p:spPr>
          <a:xfrm>
            <a:off x="838200" y="5867400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Blond og blåøjet ”arier”</a:t>
            </a:r>
            <a:endParaRPr/>
          </a:p>
        </p:txBody>
      </p:sp>
      <p:sp>
        <p:nvSpPr>
          <p:cNvPr id="278" name="Google Shape;278;p37"/>
          <p:cNvSpPr txBox="1"/>
          <p:nvPr/>
        </p:nvSpPr>
        <p:spPr>
          <a:xfrm>
            <a:off x="5257800" y="5867400"/>
            <a:ext cx="1676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afrikaner</a:t>
            </a:r>
            <a:endParaRPr/>
          </a:p>
        </p:txBody>
      </p:sp>
      <p:pic>
        <p:nvPicPr>
          <p:cNvPr descr="Beautiful Blue Eyes" id="279" name="Google Shape;2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86000"/>
            <a:ext cx="25146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to af afrikansk kvinde taget af babsteve, Flickr.com 2008" id="280" name="Google Shape;28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1981200"/>
            <a:ext cx="38100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7.  “Jurassic Park”</a:t>
            </a:r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Genskabe fortidens organismer:</a:t>
            </a:r>
            <a:endParaRPr/>
          </a:p>
          <a:p>
            <a:pPr indent="-82550" lvl="1" marL="7429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 uldhårede mammut</a:t>
            </a:r>
            <a:endParaRPr/>
          </a:p>
          <a:p>
            <a:pPr indent="-1079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Neanderthal mennesker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Dinosaurer ?!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7.  “Jurassic Park”</a:t>
            </a:r>
            <a:endParaRPr/>
          </a:p>
        </p:txBody>
      </p:sp>
      <p:pic>
        <p:nvPicPr>
          <p:cNvPr descr="IMG_1025" id="292" name="Google Shape;292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162" y="1600200"/>
            <a:ext cx="6035675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9"/>
          <p:cNvSpPr txBox="1"/>
          <p:nvPr/>
        </p:nvSpPr>
        <p:spPr>
          <a:xfrm>
            <a:off x="2362200" y="6172200"/>
            <a:ext cx="449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Uldhåret mammut, udstoppet eksemplar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7.  “Jurassic Park”</a:t>
            </a:r>
            <a:endParaRPr/>
          </a:p>
        </p:txBody>
      </p:sp>
      <p:pic>
        <p:nvPicPr>
          <p:cNvPr descr="IMG_1018" id="299" name="Google Shape;299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75" y="1600200"/>
            <a:ext cx="5427662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/>
          <p:nvPr/>
        </p:nvSpPr>
        <p:spPr>
          <a:xfrm>
            <a:off x="2286000" y="6248400"/>
            <a:ext cx="4572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Afstøbning / kopi af neanderthal-kranium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7.  “Jurassic Park”</a:t>
            </a:r>
            <a:endParaRPr/>
          </a:p>
        </p:txBody>
      </p:sp>
      <p:pic>
        <p:nvPicPr>
          <p:cNvPr descr="IMG_1043" id="306" name="Google Shape;306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937" y="1600200"/>
            <a:ext cx="6842125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1"/>
          <p:cNvSpPr txBox="1"/>
          <p:nvPr/>
        </p:nvSpPr>
        <p:spPr>
          <a:xfrm>
            <a:off x="1600200" y="6248400"/>
            <a:ext cx="6172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Fortidsøgle som let kunne bide hovedet af en biologilærer!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Hvad er gen-etisk “okay”?</a:t>
            </a:r>
            <a:endParaRPr/>
          </a:p>
        </p:txBody>
      </p:sp>
      <p:sp>
        <p:nvSpPr>
          <p:cNvPr id="313" name="Google Shape;313;p4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Danmark har Etisk Råd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og Etisk Forum for Unge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Besøg hjemmesiden: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www.etiskraad.dk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