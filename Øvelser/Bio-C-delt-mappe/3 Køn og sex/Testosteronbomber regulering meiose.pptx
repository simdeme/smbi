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a-DK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besttestosteroneboosterreview.blogspot.dk/2014/10/t-bomb-ii-review-side-effects-results.html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da-DK" sz="1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http://besttestosteroneboosterreview.blogspot.dk/2014/10/t-bomb-ii-review-side-effects-results.html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a-DK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a-DK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Diploid, haploid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a-DK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OBS! 46 kromosomer i hver celle!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a-DK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OBS! 23 kromosomer i hver kønscelle!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og indholdsobjek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un titel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fsnitsoverskrift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 indholdsobjekter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menligning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m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hold med billedtekst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lede med billedtekst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og lodret teks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dret titel og teks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gif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ctrTitle"/>
          </p:nvPr>
        </p:nvSpPr>
        <p:spPr>
          <a:xfrm>
            <a:off x="4706327" y="559558"/>
            <a:ext cx="6962509" cy="12434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da-DK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Testosteronbomber</a:t>
            </a:r>
            <a:endParaRPr b="1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4952773" y="1803022"/>
            <a:ext cx="646961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/>
              <a:buNone/>
            </a:pPr>
            <a:r>
              <a:t/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None/>
            </a:pPr>
            <a:r>
              <a:rPr b="1" i="0" lang="da-DK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Kønshormonregulering og meiose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None/>
            </a:pPr>
            <a:r>
              <a:t/>
            </a:r>
            <a:endParaRPr b="1" i="0" sz="25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None/>
            </a:pPr>
            <a:r>
              <a:rPr b="1" i="0" lang="da-DK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Biologi C</a:t>
            </a:r>
            <a:endParaRPr b="1" i="0" sz="25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87477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46949" y="4131331"/>
            <a:ext cx="3689797" cy="2386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8832154">
            <a:off x="4401879" y="3805063"/>
            <a:ext cx="3875506" cy="2176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da-DK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Drengefosteret udvikles fra uge 8, ca.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da-DK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Y-kromosom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da-DK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SRY = Sex-determining Region Y = gen som koder for proteinet TDF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da-DK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TDF = Testis-Determining Factor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da-DK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Hvis</a:t>
            </a:r>
            <a:r>
              <a:rPr b="0" i="0" lang="da-DK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der dannes TDF inden 9.  fosteruge, vil der dannes testikelvæv med Sertoli-celler, som kan hæmme udviklingen af de Müllerske gange og stoppe deres spontane udvikling til æggeledere, livmoder og skede.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da-DK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 vil også dannes Leydig-celler, som kan producere testosteron.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da-DK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Snit gennem testikel og sædrør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 b="46269" l="30715" r="24871" t="4013"/>
          <a:stretch/>
        </p:blipFill>
        <p:spPr>
          <a:xfrm>
            <a:off x="0" y="2705668"/>
            <a:ext cx="2661313" cy="3409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54494"/>
          <a:stretch/>
        </p:blipFill>
        <p:spPr>
          <a:xfrm>
            <a:off x="2793192" y="1963003"/>
            <a:ext cx="9398808" cy="4894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da-DK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Celletyper i mandens testikler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838200" y="1948454"/>
            <a:ext cx="471643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None/>
            </a:pPr>
            <a:r>
              <a:rPr b="1" i="0" lang="da-DK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selve sædrøret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b="0" i="0" lang="da-DK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Stamceller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/>
              <a:buChar char="•"/>
            </a:pPr>
            <a:r>
              <a:rPr b="0" i="0" lang="da-DK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Laver sædceller, 1.000/s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b="0" i="0" lang="da-DK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Sertoli-celler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/>
              <a:buChar char="•"/>
            </a:pPr>
            <a:r>
              <a:rPr b="0" i="0" lang="da-DK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Forsyner sædceller med næringsstoffer og styrer deres modning</a:t>
            </a:r>
            <a:endParaRPr/>
          </a:p>
          <a:p>
            <a:pPr indent="-64135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None/>
            </a:pPr>
            <a:r>
              <a:t/>
            </a:r>
            <a:endParaRPr b="0" i="0" sz="25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None/>
            </a:pPr>
            <a:r>
              <a:rPr b="1" i="0" lang="da-DK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Mellem sædrørene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b="0" i="0" lang="da-DK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Leydig-celler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/>
              <a:buChar char="•"/>
            </a:pPr>
            <a:r>
              <a:rPr b="0" i="0" lang="da-DK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Producerer testosteron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44501" r="0" t="54494"/>
          <a:stretch/>
        </p:blipFill>
        <p:spPr>
          <a:xfrm>
            <a:off x="6685352" y="1690689"/>
            <a:ext cx="5506648" cy="51673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16"/>
          <p:cNvCxnSpPr/>
          <p:nvPr/>
        </p:nvCxnSpPr>
        <p:spPr>
          <a:xfrm>
            <a:off x="4640239" y="2934269"/>
            <a:ext cx="3794077" cy="1869743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" name="Google Shape;115;p16"/>
          <p:cNvCxnSpPr/>
          <p:nvPr/>
        </p:nvCxnSpPr>
        <p:spPr>
          <a:xfrm>
            <a:off x="5121834" y="4209878"/>
            <a:ext cx="2830885" cy="118826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" name="Google Shape;116;p16"/>
          <p:cNvCxnSpPr/>
          <p:nvPr/>
        </p:nvCxnSpPr>
        <p:spPr>
          <a:xfrm>
            <a:off x="4450107" y="5693247"/>
            <a:ext cx="2987923" cy="257654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7" name="Google Shape;117;p16"/>
          <p:cNvSpPr/>
          <p:nvPr/>
        </p:nvSpPr>
        <p:spPr>
          <a:xfrm>
            <a:off x="7664355" y="3381461"/>
            <a:ext cx="3575714" cy="3633488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838200" y="365125"/>
            <a:ext cx="1068051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da-DK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Produktionen af testosteron ændres gennem livet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8580" y="1690688"/>
            <a:ext cx="7419749" cy="515109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709684" y="3527572"/>
            <a:ext cx="124194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a-DK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OBS! Italiensk kilde - kun illustrativt formål!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da-DK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Testosteron er et (steroid)hormon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88109"/>
            <a:ext cx="12204615" cy="4087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da-DK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Hvordan styres produktionen af testosteron?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838200" y="2688609"/>
            <a:ext cx="2996821" cy="270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da-DK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Af hjernen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da-DK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Af sig selv!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da-DK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Mekanisme: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da-DK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 feedback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19"/>
          <p:cNvGrpSpPr/>
          <p:nvPr/>
        </p:nvGrpSpPr>
        <p:grpSpPr>
          <a:xfrm>
            <a:off x="4529281" y="2323606"/>
            <a:ext cx="6398282" cy="3355373"/>
            <a:chOff x="243885" y="367441"/>
            <a:chExt cx="6398282" cy="3355373"/>
          </a:xfrm>
        </p:grpSpPr>
        <p:sp>
          <p:nvSpPr>
            <p:cNvPr id="138" name="Google Shape;138;p19"/>
            <p:cNvSpPr/>
            <p:nvPr/>
          </p:nvSpPr>
          <p:spPr>
            <a:xfrm>
              <a:off x="243885" y="1056183"/>
              <a:ext cx="3042909" cy="197789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9"/>
            <p:cNvSpPr txBox="1"/>
            <p:nvPr/>
          </p:nvSpPr>
          <p:spPr>
            <a:xfrm>
              <a:off x="340438" y="1152736"/>
              <a:ext cx="2849803" cy="1784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6200" lIns="236200" spcFirstLastPara="1" rIns="236200" wrap="square" tIns="23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6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Hjerne</a:t>
              </a:r>
              <a:endParaRPr sz="6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1765339" y="367441"/>
              <a:ext cx="3355373" cy="3355373"/>
            </a:xfrm>
            <a:custGeom>
              <a:rect b="b" l="l" r="r" t="t"/>
              <a:pathLst>
                <a:path extrusionOk="0" h="120000" w="120000">
                  <a:moveTo>
                    <a:pt x="25271" y="11073"/>
                  </a:moveTo>
                  <a:cubicBezTo>
                    <a:pt x="46070" y="-3690"/>
                    <a:pt x="73930" y="-3690"/>
                    <a:pt x="94729" y="11073"/>
                  </a:cubicBezTo>
                </a:path>
              </a:pathLst>
            </a:custGeom>
            <a:noFill/>
            <a:ln cap="flat" cmpd="sng" w="9525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3599258" y="1056183"/>
              <a:ext cx="3042909" cy="197789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3695811" y="1152736"/>
              <a:ext cx="2849803" cy="1784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6200" lIns="236200" spcFirstLastPara="1" rIns="236200" wrap="square" tIns="23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6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Testikel</a:t>
              </a:r>
              <a:endParaRPr sz="6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1765339" y="367441"/>
              <a:ext cx="3355373" cy="3355373"/>
            </a:xfrm>
            <a:custGeom>
              <a:rect b="b" l="l" r="r" t="t"/>
              <a:pathLst>
                <a:path extrusionOk="0" h="120000" w="120000">
                  <a:moveTo>
                    <a:pt x="94729" y="108927"/>
                  </a:moveTo>
                  <a:cubicBezTo>
                    <a:pt x="73930" y="123690"/>
                    <a:pt x="46070" y="123690"/>
                    <a:pt x="25271" y="108927"/>
                  </a:cubicBezTo>
                </a:path>
              </a:pathLst>
            </a:custGeom>
            <a:noFill/>
            <a:ln cap="flat" cmpd="sng" w="9525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19"/>
          <p:cNvSpPr txBox="1"/>
          <p:nvPr/>
        </p:nvSpPr>
        <p:spPr>
          <a:xfrm>
            <a:off x="6714698" y="1825625"/>
            <a:ext cx="185837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LH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6714698" y="5622965"/>
            <a:ext cx="204716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Testosteron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6810232" y="365125"/>
            <a:ext cx="454356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da-DK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Hjernen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6810232" y="1825625"/>
            <a:ext cx="5104264" cy="4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da-DK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Hypothalamus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da-DK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kobler nervesystemet og hormonsystemet, udskiller GnRH (Gonadotropin Releasing Hormone)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da-DK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Hypofysen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da-DK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Kirtelvæv i hjernen, delt i forlap og baglap. Forlappen udskiller FSH (FollikelStimulerende Hormon) og LH (Luteiniserende Hormon)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4465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/>
          <p:nvPr/>
        </p:nvSpPr>
        <p:spPr>
          <a:xfrm rot="-2214860">
            <a:off x="1911842" y="2811961"/>
            <a:ext cx="1329379" cy="741784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4092" y="0"/>
            <a:ext cx="7663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/>
        </p:nvSpPr>
        <p:spPr>
          <a:xfrm>
            <a:off x="6564573" y="6387153"/>
            <a:ext cx="3057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a-DK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 = receptor for testosteron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5277133" y="0"/>
            <a:ext cx="52179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a-DK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Samspil mellem hjerne og testikel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144" y="0"/>
            <a:ext cx="57607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/>
          <p:nvPr/>
        </p:nvSpPr>
        <p:spPr>
          <a:xfrm>
            <a:off x="7049637" y="4437250"/>
            <a:ext cx="372584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 3.59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Nervesystemet. Centralnervesystemet med hjernen og rygmarven, der modtager signaler fra det perifere nervesystem, som udgøres af de sensoriske og motoriske neuroner samt det autonome nervesystem.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7049637" y="739382"/>
            <a:ext cx="3987648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Hypothalamus er både en kirtel og center for reguleringen af det autonome nervesystem. Hypothalamus kontrollerer bl.a. kroppens seksualdrift.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da-DK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Hvad er meningen med seksualdriften?!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1322" y="718429"/>
            <a:ext cx="9209356" cy="613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da-DK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Kønnet formering kræver meiose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445" y="2312347"/>
            <a:ext cx="4233731" cy="3868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9176" y="2312348"/>
            <a:ext cx="7672824" cy="3868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5"/>
          <p:cNvPicPr preferRelativeResize="0"/>
          <p:nvPr/>
        </p:nvPicPr>
        <p:blipFill rotWithShape="1">
          <a:blip r:embed="rId3">
            <a:alphaModFix/>
          </a:blip>
          <a:srcRect b="24975" l="0" r="0" t="0"/>
          <a:stretch/>
        </p:blipFill>
        <p:spPr>
          <a:xfrm>
            <a:off x="1425723" y="165783"/>
            <a:ext cx="9410600" cy="669221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/>
          <p:nvPr/>
        </p:nvSpPr>
        <p:spPr>
          <a:xfrm>
            <a:off x="6131023" y="165783"/>
            <a:ext cx="4814481" cy="66922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5"/>
          <p:cNvSpPr/>
          <p:nvPr/>
        </p:nvSpPr>
        <p:spPr>
          <a:xfrm>
            <a:off x="5491853" y="3236662"/>
            <a:ext cx="4814481" cy="35575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/>
          <p:nvPr/>
        </p:nvSpPr>
        <p:spPr>
          <a:xfrm rot="638142">
            <a:off x="5734903" y="1044173"/>
            <a:ext cx="4814481" cy="35575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5644253" y="3389062"/>
            <a:ext cx="4814481" cy="35575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218365" y="165783"/>
            <a:ext cx="264766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MITOSE: 1 =&gt; 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6"/>
          <p:cNvPicPr preferRelativeResize="0"/>
          <p:nvPr/>
        </p:nvPicPr>
        <p:blipFill rotWithShape="1">
          <a:blip r:embed="rId3">
            <a:alphaModFix/>
          </a:blip>
          <a:srcRect b="24975" l="0" r="0" t="0"/>
          <a:stretch/>
        </p:blipFill>
        <p:spPr>
          <a:xfrm>
            <a:off x="1425723" y="165783"/>
            <a:ext cx="9410600" cy="669221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/>
          <p:nvPr/>
        </p:nvSpPr>
        <p:spPr>
          <a:xfrm>
            <a:off x="0" y="165783"/>
            <a:ext cx="4814481" cy="66922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6"/>
          <p:cNvSpPr/>
          <p:nvPr/>
        </p:nvSpPr>
        <p:spPr>
          <a:xfrm rot="-1310426">
            <a:off x="4588825" y="763463"/>
            <a:ext cx="722427" cy="27113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9415450" y="165783"/>
            <a:ext cx="264766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MEIOSE: 1 =&gt; 4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7"/>
          <p:cNvPicPr preferRelativeResize="0"/>
          <p:nvPr/>
        </p:nvPicPr>
        <p:blipFill rotWithShape="1">
          <a:blip r:embed="rId3">
            <a:alphaModFix/>
          </a:blip>
          <a:srcRect b="24975" l="0" r="0" t="0"/>
          <a:stretch/>
        </p:blipFill>
        <p:spPr>
          <a:xfrm>
            <a:off x="1425723" y="165783"/>
            <a:ext cx="9410600" cy="669221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/>
        </p:nvSpPr>
        <p:spPr>
          <a:xfrm>
            <a:off x="218365" y="165783"/>
            <a:ext cx="264766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MITOSE: 1 =&gt; 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 txBox="1"/>
          <p:nvPr/>
        </p:nvSpPr>
        <p:spPr>
          <a:xfrm>
            <a:off x="9415450" y="165783"/>
            <a:ext cx="264766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MEIOSE: 1 =&gt; 4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da-DK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Spørgsmål?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4104" y="1795711"/>
            <a:ext cx="4857572" cy="4857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