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1" r:id="rId5"/>
    <p:sldId id="259" r:id="rId6"/>
    <p:sldId id="264" r:id="rId7"/>
    <p:sldId id="262" r:id="rId8"/>
    <p:sldId id="265" r:id="rId9"/>
    <p:sldId id="263" r:id="rId10"/>
    <p:sldId id="266" r:id="rId11"/>
    <p:sldId id="268" r:id="rId12"/>
    <p:sldId id="267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7D18ED-E5A4-4F5C-8B64-C3567AB84C54}" type="doc">
      <dgm:prSet loTypeId="urn:microsoft.com/office/officeart/2005/8/layout/cycle5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a-DK"/>
        </a:p>
      </dgm:t>
    </dgm:pt>
    <dgm:pt modelId="{264ADD19-A00B-42BF-A883-4B46E4ACC362}">
      <dgm:prSet phldrT="[Tekst]"/>
      <dgm:spPr/>
      <dgm:t>
        <a:bodyPr/>
        <a:lstStyle/>
        <a:p>
          <a:r>
            <a:rPr lang="da-DK" dirty="0" smtClean="0"/>
            <a:t>Hjerne</a:t>
          </a:r>
          <a:endParaRPr lang="da-DK" dirty="0"/>
        </a:p>
      </dgm:t>
    </dgm:pt>
    <dgm:pt modelId="{7036EEC5-F6D3-4780-8609-03C4B53AA436}" type="parTrans" cxnId="{E8AFADFE-AB3B-4037-AB90-8373BB2B03F7}">
      <dgm:prSet/>
      <dgm:spPr/>
      <dgm:t>
        <a:bodyPr/>
        <a:lstStyle/>
        <a:p>
          <a:endParaRPr lang="da-DK"/>
        </a:p>
      </dgm:t>
    </dgm:pt>
    <dgm:pt modelId="{E0EA35D1-FB1D-4744-B3E7-F3644E465825}" type="sibTrans" cxnId="{E8AFADFE-AB3B-4037-AB90-8373BB2B03F7}">
      <dgm:prSet/>
      <dgm:spPr/>
      <dgm:t>
        <a:bodyPr/>
        <a:lstStyle/>
        <a:p>
          <a:endParaRPr lang="da-DK"/>
        </a:p>
      </dgm:t>
    </dgm:pt>
    <dgm:pt modelId="{C56CE429-D430-43D7-8102-0CAA82E6657A}">
      <dgm:prSet phldrT="[Tekst]"/>
      <dgm:spPr/>
      <dgm:t>
        <a:bodyPr/>
        <a:lstStyle/>
        <a:p>
          <a:r>
            <a:rPr lang="da-DK" dirty="0" smtClean="0"/>
            <a:t>Testikel</a:t>
          </a:r>
          <a:endParaRPr lang="da-DK" dirty="0"/>
        </a:p>
      </dgm:t>
    </dgm:pt>
    <dgm:pt modelId="{2A6A0907-2405-486D-AC01-DF6B8EC4D0C7}" type="parTrans" cxnId="{025DA846-676F-40A0-9687-E70B420DFDBB}">
      <dgm:prSet/>
      <dgm:spPr/>
      <dgm:t>
        <a:bodyPr/>
        <a:lstStyle/>
        <a:p>
          <a:endParaRPr lang="da-DK"/>
        </a:p>
      </dgm:t>
    </dgm:pt>
    <dgm:pt modelId="{6DF70262-CD0F-4D82-A30F-C48607105142}" type="sibTrans" cxnId="{025DA846-676F-40A0-9687-E70B420DFDBB}">
      <dgm:prSet/>
      <dgm:spPr/>
      <dgm:t>
        <a:bodyPr/>
        <a:lstStyle/>
        <a:p>
          <a:endParaRPr lang="da-DK"/>
        </a:p>
      </dgm:t>
    </dgm:pt>
    <dgm:pt modelId="{0BD52405-3BA2-48E0-AB90-3853AB4D9E0C}" type="pres">
      <dgm:prSet presAssocID="{CF7D18ED-E5A4-4F5C-8B64-C3567AB84C54}" presName="cycle" presStyleCnt="0">
        <dgm:presLayoutVars>
          <dgm:dir/>
          <dgm:resizeHandles val="exact"/>
        </dgm:presLayoutVars>
      </dgm:prSet>
      <dgm:spPr/>
    </dgm:pt>
    <dgm:pt modelId="{1A886C17-2CB0-4C8E-8531-E8300D2606F0}" type="pres">
      <dgm:prSet presAssocID="{264ADD19-A00B-42BF-A883-4B46E4ACC362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da-DK"/>
        </a:p>
      </dgm:t>
    </dgm:pt>
    <dgm:pt modelId="{F844CFDE-1E74-44F4-B16B-9395AEF56855}" type="pres">
      <dgm:prSet presAssocID="{264ADD19-A00B-42BF-A883-4B46E4ACC362}" presName="spNode" presStyleCnt="0"/>
      <dgm:spPr/>
    </dgm:pt>
    <dgm:pt modelId="{68D41E7D-9415-4874-BC9B-7ED6E581DE1B}" type="pres">
      <dgm:prSet presAssocID="{E0EA35D1-FB1D-4744-B3E7-F3644E465825}" presName="sibTrans" presStyleLbl="sibTrans1D1" presStyleIdx="0" presStyleCnt="2"/>
      <dgm:spPr/>
    </dgm:pt>
    <dgm:pt modelId="{5EF068D6-E9F1-49B3-B0FD-DE5EBAD1F8EA}" type="pres">
      <dgm:prSet presAssocID="{C56CE429-D430-43D7-8102-0CAA82E6657A}" presName="node" presStyleLbl="node1" presStyleIdx="1" presStyleCnt="2">
        <dgm:presLayoutVars>
          <dgm:bulletEnabled val="1"/>
        </dgm:presLayoutVars>
      </dgm:prSet>
      <dgm:spPr/>
    </dgm:pt>
    <dgm:pt modelId="{12BD8263-B327-4EBF-B6D3-3B410585F3C5}" type="pres">
      <dgm:prSet presAssocID="{C56CE429-D430-43D7-8102-0CAA82E6657A}" presName="spNode" presStyleCnt="0"/>
      <dgm:spPr/>
    </dgm:pt>
    <dgm:pt modelId="{4A81DC70-5007-4512-903A-38E6F6AAADF8}" type="pres">
      <dgm:prSet presAssocID="{6DF70262-CD0F-4D82-A30F-C48607105142}" presName="sibTrans" presStyleLbl="sibTrans1D1" presStyleIdx="1" presStyleCnt="2"/>
      <dgm:spPr/>
    </dgm:pt>
  </dgm:ptLst>
  <dgm:cxnLst>
    <dgm:cxn modelId="{E2B76A67-480F-42F2-AEBB-FDBAAE1D50D7}" type="presOf" srcId="{E0EA35D1-FB1D-4744-B3E7-F3644E465825}" destId="{68D41E7D-9415-4874-BC9B-7ED6E581DE1B}" srcOrd="0" destOrd="0" presId="urn:microsoft.com/office/officeart/2005/8/layout/cycle5"/>
    <dgm:cxn modelId="{A126A319-B8DE-4AF2-87CA-AD4FAB1B7A23}" type="presOf" srcId="{C56CE429-D430-43D7-8102-0CAA82E6657A}" destId="{5EF068D6-E9F1-49B3-B0FD-DE5EBAD1F8EA}" srcOrd="0" destOrd="0" presId="urn:microsoft.com/office/officeart/2005/8/layout/cycle5"/>
    <dgm:cxn modelId="{36801364-52B5-4AF0-836E-BC74EBC42E0B}" type="presOf" srcId="{264ADD19-A00B-42BF-A883-4B46E4ACC362}" destId="{1A886C17-2CB0-4C8E-8531-E8300D2606F0}" srcOrd="0" destOrd="0" presId="urn:microsoft.com/office/officeart/2005/8/layout/cycle5"/>
    <dgm:cxn modelId="{E8AFADFE-AB3B-4037-AB90-8373BB2B03F7}" srcId="{CF7D18ED-E5A4-4F5C-8B64-C3567AB84C54}" destId="{264ADD19-A00B-42BF-A883-4B46E4ACC362}" srcOrd="0" destOrd="0" parTransId="{7036EEC5-F6D3-4780-8609-03C4B53AA436}" sibTransId="{E0EA35D1-FB1D-4744-B3E7-F3644E465825}"/>
    <dgm:cxn modelId="{B8FE175E-7F61-44F4-A19C-9ECB9D40D8B9}" type="presOf" srcId="{CF7D18ED-E5A4-4F5C-8B64-C3567AB84C54}" destId="{0BD52405-3BA2-48E0-AB90-3853AB4D9E0C}" srcOrd="0" destOrd="0" presId="urn:microsoft.com/office/officeart/2005/8/layout/cycle5"/>
    <dgm:cxn modelId="{025DA846-676F-40A0-9687-E70B420DFDBB}" srcId="{CF7D18ED-E5A4-4F5C-8B64-C3567AB84C54}" destId="{C56CE429-D430-43D7-8102-0CAA82E6657A}" srcOrd="1" destOrd="0" parTransId="{2A6A0907-2405-486D-AC01-DF6B8EC4D0C7}" sibTransId="{6DF70262-CD0F-4D82-A30F-C48607105142}"/>
    <dgm:cxn modelId="{6B1323D5-19AF-47B8-B2B0-737688874891}" type="presOf" srcId="{6DF70262-CD0F-4D82-A30F-C48607105142}" destId="{4A81DC70-5007-4512-903A-38E6F6AAADF8}" srcOrd="0" destOrd="0" presId="urn:microsoft.com/office/officeart/2005/8/layout/cycle5"/>
    <dgm:cxn modelId="{4188ED5F-396A-441E-A47D-33784C6D0A88}" type="presParOf" srcId="{0BD52405-3BA2-48E0-AB90-3853AB4D9E0C}" destId="{1A886C17-2CB0-4C8E-8531-E8300D2606F0}" srcOrd="0" destOrd="0" presId="urn:microsoft.com/office/officeart/2005/8/layout/cycle5"/>
    <dgm:cxn modelId="{22D75709-E4BE-422F-9DAF-F05B76CF291D}" type="presParOf" srcId="{0BD52405-3BA2-48E0-AB90-3853AB4D9E0C}" destId="{F844CFDE-1E74-44F4-B16B-9395AEF56855}" srcOrd="1" destOrd="0" presId="urn:microsoft.com/office/officeart/2005/8/layout/cycle5"/>
    <dgm:cxn modelId="{AB983E9E-25C9-44F4-BCB1-1B9F94C9B943}" type="presParOf" srcId="{0BD52405-3BA2-48E0-AB90-3853AB4D9E0C}" destId="{68D41E7D-9415-4874-BC9B-7ED6E581DE1B}" srcOrd="2" destOrd="0" presId="urn:microsoft.com/office/officeart/2005/8/layout/cycle5"/>
    <dgm:cxn modelId="{1AC93CED-4DB8-4FF0-8D9E-FC54D2727C46}" type="presParOf" srcId="{0BD52405-3BA2-48E0-AB90-3853AB4D9E0C}" destId="{5EF068D6-E9F1-49B3-B0FD-DE5EBAD1F8EA}" srcOrd="3" destOrd="0" presId="urn:microsoft.com/office/officeart/2005/8/layout/cycle5"/>
    <dgm:cxn modelId="{CFC7C41A-9F27-450D-BFE6-AAEDCCD67758}" type="presParOf" srcId="{0BD52405-3BA2-48E0-AB90-3853AB4D9E0C}" destId="{12BD8263-B327-4EBF-B6D3-3B410585F3C5}" srcOrd="4" destOrd="0" presId="urn:microsoft.com/office/officeart/2005/8/layout/cycle5"/>
    <dgm:cxn modelId="{879BEF58-4476-493C-BDEE-51D01042CA25}" type="presParOf" srcId="{0BD52405-3BA2-48E0-AB90-3853AB4D9E0C}" destId="{4A81DC70-5007-4512-903A-38E6F6AAADF8}" srcOrd="5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886C17-2CB0-4C8E-8531-E8300D2606F0}">
      <dsp:nvSpPr>
        <dsp:cNvPr id="0" name=""/>
        <dsp:cNvSpPr/>
      </dsp:nvSpPr>
      <dsp:spPr>
        <a:xfrm>
          <a:off x="243885" y="1056183"/>
          <a:ext cx="3042909" cy="19778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220" tIns="236220" rIns="236220" bIns="236220" numCol="1" spcCol="1270" anchor="ctr" anchorCtr="0">
          <a:noAutofit/>
        </a:bodyPr>
        <a:lstStyle/>
        <a:p>
          <a:pPr lvl="0" algn="ctr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a-DK" sz="6200" kern="1200" dirty="0" smtClean="0"/>
            <a:t>Hjerne</a:t>
          </a:r>
          <a:endParaRPr lang="da-DK" sz="6200" kern="1200" dirty="0"/>
        </a:p>
      </dsp:txBody>
      <dsp:txXfrm>
        <a:off x="340438" y="1152736"/>
        <a:ext cx="2849803" cy="1784784"/>
      </dsp:txXfrm>
    </dsp:sp>
    <dsp:sp modelId="{68D41E7D-9415-4874-BC9B-7ED6E581DE1B}">
      <dsp:nvSpPr>
        <dsp:cNvPr id="0" name=""/>
        <dsp:cNvSpPr/>
      </dsp:nvSpPr>
      <dsp:spPr>
        <a:xfrm>
          <a:off x="1765339" y="367441"/>
          <a:ext cx="3355373" cy="3355373"/>
        </a:xfrm>
        <a:custGeom>
          <a:avLst/>
          <a:gdLst/>
          <a:ahLst/>
          <a:cxnLst/>
          <a:rect l="0" t="0" r="0" b="0"/>
          <a:pathLst>
            <a:path>
              <a:moveTo>
                <a:pt x="706612" y="309605"/>
              </a:moveTo>
              <a:arcTo wR="1677686" hR="1677686" stAng="14077955" swAng="4244091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F068D6-E9F1-49B3-B0FD-DE5EBAD1F8EA}">
      <dsp:nvSpPr>
        <dsp:cNvPr id="0" name=""/>
        <dsp:cNvSpPr/>
      </dsp:nvSpPr>
      <dsp:spPr>
        <a:xfrm>
          <a:off x="3599258" y="1056183"/>
          <a:ext cx="3042909" cy="19778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220" tIns="236220" rIns="236220" bIns="236220" numCol="1" spcCol="1270" anchor="ctr" anchorCtr="0">
          <a:noAutofit/>
        </a:bodyPr>
        <a:lstStyle/>
        <a:p>
          <a:pPr lvl="0" algn="ctr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a-DK" sz="6200" kern="1200" dirty="0" smtClean="0"/>
            <a:t>Testikel</a:t>
          </a:r>
          <a:endParaRPr lang="da-DK" sz="6200" kern="1200" dirty="0"/>
        </a:p>
      </dsp:txBody>
      <dsp:txXfrm>
        <a:off x="3695811" y="1152736"/>
        <a:ext cx="2849803" cy="1784784"/>
      </dsp:txXfrm>
    </dsp:sp>
    <dsp:sp modelId="{4A81DC70-5007-4512-903A-38E6F6AAADF8}">
      <dsp:nvSpPr>
        <dsp:cNvPr id="0" name=""/>
        <dsp:cNvSpPr/>
      </dsp:nvSpPr>
      <dsp:spPr>
        <a:xfrm>
          <a:off x="1765339" y="367441"/>
          <a:ext cx="3355373" cy="3355373"/>
        </a:xfrm>
        <a:custGeom>
          <a:avLst/>
          <a:gdLst/>
          <a:ahLst/>
          <a:cxnLst/>
          <a:rect l="0" t="0" r="0" b="0"/>
          <a:pathLst>
            <a:path>
              <a:moveTo>
                <a:pt x="2648761" y="3045768"/>
              </a:moveTo>
              <a:arcTo wR="1677686" hR="1677686" stAng="3277955" swAng="4244091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22AE90-C409-4466-B62D-29A17559B313}" type="datetimeFigureOut">
              <a:rPr lang="da-DK" smtClean="0"/>
              <a:t>07-02-2017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1A7737-036A-4253-B5E2-6BB90BDDF8C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13611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besttestosteroneboosterreview.blogspot.dk/2014/10/t-bomb-ii-review-side-effects-results.html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dirty="0" smtClean="0">
                <a:hlinkClick r:id="rId3"/>
              </a:rPr>
              <a:t>http://besttestosteroneboosterreview.blogspot.dk/2014/10/t-bomb-ii-review-side-effects-results.html</a:t>
            </a:r>
            <a:endParaRPr lang="da-DK" dirty="0" smtClean="0"/>
          </a:p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1A7737-036A-4253-B5E2-6BB90BDDF8C2}" type="slidenum">
              <a:rPr lang="da-DK" smtClean="0"/>
              <a:t>1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5128287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 smtClean="0"/>
              <a:t>Diploid</a:t>
            </a:r>
            <a:r>
              <a:rPr lang="da-DK" dirty="0" smtClean="0"/>
              <a:t>, </a:t>
            </a:r>
            <a:r>
              <a:rPr lang="da-DK" dirty="0" err="1" smtClean="0"/>
              <a:t>haploid</a:t>
            </a:r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1A7737-036A-4253-B5E2-6BB90BDDF8C2}" type="slidenum">
              <a:rPr lang="da-DK" smtClean="0"/>
              <a:t>12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961975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smtClean="0"/>
              <a:t>OBS! 46 kromosomer i hver</a:t>
            </a:r>
            <a:r>
              <a:rPr lang="da-DK" baseline="0" dirty="0" smtClean="0"/>
              <a:t> celle!</a:t>
            </a:r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1A7737-036A-4253-B5E2-6BB90BDDF8C2}" type="slidenum">
              <a:rPr lang="da-DK" smtClean="0"/>
              <a:t>13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033671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smtClean="0"/>
              <a:t>OBS! 23 kromosomer i </a:t>
            </a:r>
            <a:r>
              <a:rPr lang="da-DK" smtClean="0"/>
              <a:t>hver kønscelle!</a:t>
            </a:r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1A7737-036A-4253-B5E2-6BB90BDDF8C2}" type="slidenum">
              <a:rPr lang="da-DK" smtClean="0"/>
              <a:t>15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77175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 smtClean="0"/>
              <a:t>Klik for at redigere i master</a:t>
            </a:r>
            <a:endParaRPr lang="da-DK"/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 smtClean="0"/>
              <a:t>Klik for at redigere i master</a:t>
            </a:r>
            <a:endParaRPr lang="da-DK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8406C-FD72-4FA9-90A0-FCF47DEA7A2D}" type="datetimeFigureOut">
              <a:rPr lang="da-DK" smtClean="0"/>
              <a:t>07-02-2017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4DC10-66F8-4683-9436-91B75AF869C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53104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mtClean="0"/>
              <a:t>Klik for at redigere i master</a:t>
            </a:r>
            <a:endParaRPr lang="da-DK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8406C-FD72-4FA9-90A0-FCF47DEA7A2D}" type="datetimeFigureOut">
              <a:rPr lang="da-DK" smtClean="0"/>
              <a:t>07-02-2017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4DC10-66F8-4683-9436-91B75AF869C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07794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 smtClean="0"/>
              <a:t>Klik for at redigere i master</a:t>
            </a:r>
            <a:endParaRPr lang="da-DK"/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8406C-FD72-4FA9-90A0-FCF47DEA7A2D}" type="datetimeFigureOut">
              <a:rPr lang="da-DK" smtClean="0"/>
              <a:t>07-02-2017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4DC10-66F8-4683-9436-91B75AF869C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16577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mtClean="0"/>
              <a:t>Klik for at redigere i master</a:t>
            </a:r>
            <a:endParaRPr lang="da-DK"/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8406C-FD72-4FA9-90A0-FCF47DEA7A2D}" type="datetimeFigureOut">
              <a:rPr lang="da-DK" smtClean="0"/>
              <a:t>07-02-2017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4DC10-66F8-4683-9436-91B75AF869C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18550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 smtClean="0"/>
              <a:t>Klik for at redigere i master</a:t>
            </a:r>
            <a:endParaRPr lang="da-DK"/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8406C-FD72-4FA9-90A0-FCF47DEA7A2D}" type="datetimeFigureOut">
              <a:rPr lang="da-DK" smtClean="0"/>
              <a:t>07-02-2017</a:t>
            </a:fld>
            <a:endParaRPr lang="da-DK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4DC10-66F8-4683-9436-91B75AF869C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16876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mtClean="0"/>
              <a:t>Klik for at redigere i master</a:t>
            </a:r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8406C-FD72-4FA9-90A0-FCF47DEA7A2D}" type="datetimeFigureOut">
              <a:rPr lang="da-DK" smtClean="0"/>
              <a:t>07-02-2017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4DC10-66F8-4683-9436-91B75AF869C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18178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8406C-FD72-4FA9-90A0-FCF47DEA7A2D}" type="datetimeFigureOut">
              <a:rPr lang="da-DK" smtClean="0"/>
              <a:t>07-02-2017</a:t>
            </a:fld>
            <a:endParaRPr lang="da-DK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4DC10-66F8-4683-9436-91B75AF869C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0722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 smtClean="0"/>
              <a:t>Klik for at redigere i master</a:t>
            </a:r>
            <a:endParaRPr lang="da-DK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8406C-FD72-4FA9-90A0-FCF47DEA7A2D}" type="datetimeFigureOut">
              <a:rPr lang="da-DK" smtClean="0"/>
              <a:t>07-02-2017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4DC10-66F8-4683-9436-91B75AF869C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53432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 smtClean="0"/>
              <a:t>Klik for at redigere i master</a:t>
            </a:r>
            <a:endParaRPr lang="da-DK"/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8406C-FD72-4FA9-90A0-FCF47DEA7A2D}" type="datetimeFigureOut">
              <a:rPr lang="da-DK" smtClean="0"/>
              <a:t>07-02-2017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4DC10-66F8-4683-9436-91B75AF869C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33778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mtClean="0"/>
              <a:t>Klik for at redigere i master</a:t>
            </a:r>
            <a:endParaRPr lang="da-DK"/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8406C-FD72-4FA9-90A0-FCF47DEA7A2D}" type="datetimeFigureOut">
              <a:rPr lang="da-DK" smtClean="0"/>
              <a:t>07-02-2017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4DC10-66F8-4683-9436-91B75AF869C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39218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 smtClean="0"/>
              <a:t>Klik for at redigere i master</a:t>
            </a:r>
            <a:endParaRPr lang="da-DK"/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8406C-FD72-4FA9-90A0-FCF47DEA7A2D}" type="datetimeFigureOut">
              <a:rPr lang="da-DK" smtClean="0"/>
              <a:t>07-02-2017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4DC10-66F8-4683-9436-91B75AF869C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37654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 smtClean="0"/>
              <a:t>Klik for at redigere i master</a:t>
            </a:r>
            <a:endParaRPr lang="da-DK"/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38406C-FD72-4FA9-90A0-FCF47DEA7A2D}" type="datetimeFigureOut">
              <a:rPr lang="da-DK" smtClean="0"/>
              <a:t>07-02-2017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B4DC10-66F8-4683-9436-91B75AF869C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4453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706327" y="559558"/>
            <a:ext cx="6962509" cy="1243464"/>
          </a:xfrm>
        </p:spPr>
        <p:txBody>
          <a:bodyPr>
            <a:normAutofit/>
          </a:bodyPr>
          <a:lstStyle/>
          <a:p>
            <a:r>
              <a:rPr lang="da-DK" b="1" dirty="0" smtClean="0"/>
              <a:t>Testosteronbomber</a:t>
            </a:r>
            <a:endParaRPr lang="da-DK" b="1" dirty="0"/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4952773" y="1803022"/>
            <a:ext cx="6469616" cy="1655762"/>
          </a:xfrm>
        </p:spPr>
        <p:txBody>
          <a:bodyPr>
            <a:normAutofit fontScale="92500" lnSpcReduction="20000"/>
          </a:bodyPr>
          <a:lstStyle/>
          <a:p>
            <a:endParaRPr lang="da-DK" dirty="0" smtClean="0"/>
          </a:p>
          <a:p>
            <a:r>
              <a:rPr lang="da-DK" sz="2800" b="1" dirty="0" smtClean="0"/>
              <a:t>Kønshormonregulering og meiose</a:t>
            </a:r>
          </a:p>
          <a:p>
            <a:endParaRPr lang="da-DK" sz="2800" b="1" dirty="0" smtClean="0"/>
          </a:p>
          <a:p>
            <a:r>
              <a:rPr lang="da-DK" sz="2800" b="1" dirty="0" smtClean="0"/>
              <a:t>Biologi C</a:t>
            </a:r>
            <a:endParaRPr lang="da-DK" sz="2800" b="1" dirty="0"/>
          </a:p>
        </p:txBody>
      </p:sp>
      <p:pic>
        <p:nvPicPr>
          <p:cNvPr id="4" name="Billed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874770" cy="6858000"/>
          </a:xfrm>
          <a:prstGeom prst="rect">
            <a:avLst/>
          </a:prstGeom>
        </p:spPr>
      </p:pic>
      <p:pic>
        <p:nvPicPr>
          <p:cNvPr id="6" name="Billed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6949" y="4131331"/>
            <a:ext cx="3689797" cy="2386069"/>
          </a:xfrm>
          <a:prstGeom prst="rect">
            <a:avLst/>
          </a:prstGeom>
        </p:spPr>
      </p:pic>
      <p:pic>
        <p:nvPicPr>
          <p:cNvPr id="7" name="Billed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67846" flipV="1">
            <a:off x="4401879" y="3805063"/>
            <a:ext cx="3875506" cy="217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666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a-DK" dirty="0" smtClean="0"/>
              <a:t>Drengefosteret udvikles fra uge 8, ca.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dirty="0" smtClean="0"/>
              <a:t>Y-kromosom</a:t>
            </a:r>
          </a:p>
          <a:p>
            <a:r>
              <a:rPr lang="da-DK" dirty="0" smtClean="0"/>
              <a:t>SRY = Sex-</a:t>
            </a:r>
            <a:r>
              <a:rPr lang="da-DK" dirty="0" err="1" smtClean="0"/>
              <a:t>determining</a:t>
            </a:r>
            <a:r>
              <a:rPr lang="da-DK" dirty="0" smtClean="0"/>
              <a:t> Region Y = gen som koder for proteinet TDF</a:t>
            </a:r>
          </a:p>
          <a:p>
            <a:r>
              <a:rPr lang="da-DK" dirty="0" smtClean="0"/>
              <a:t>TDF = Testis-</a:t>
            </a:r>
            <a:r>
              <a:rPr lang="da-DK" dirty="0" err="1"/>
              <a:t>D</a:t>
            </a:r>
            <a:r>
              <a:rPr lang="da-DK" dirty="0" err="1" smtClean="0"/>
              <a:t>etermining</a:t>
            </a:r>
            <a:r>
              <a:rPr lang="da-DK" dirty="0" smtClean="0"/>
              <a:t> Factor</a:t>
            </a:r>
          </a:p>
          <a:p>
            <a:endParaRPr lang="da-DK" dirty="0"/>
          </a:p>
          <a:p>
            <a:r>
              <a:rPr lang="da-DK" b="1" dirty="0" smtClean="0"/>
              <a:t>Hvis</a:t>
            </a:r>
            <a:r>
              <a:rPr lang="da-DK" dirty="0" smtClean="0"/>
              <a:t> der dannes TDF inden 9.  fosteruge, vil der dannes testikelvæv med </a:t>
            </a:r>
            <a:r>
              <a:rPr lang="da-DK" dirty="0" err="1" smtClean="0"/>
              <a:t>Sertoli</a:t>
            </a:r>
            <a:r>
              <a:rPr lang="da-DK" dirty="0" smtClean="0"/>
              <a:t>-celler, som kan hæmme udviklingen af de Müllerske gange og stoppe deres spontane udvikling til æggeledere, livmoder og skede.</a:t>
            </a:r>
          </a:p>
          <a:p>
            <a:r>
              <a:rPr lang="da-DK" dirty="0" smtClean="0"/>
              <a:t>Der vil </a:t>
            </a:r>
            <a:r>
              <a:rPr lang="da-DK" dirty="0" smtClean="0"/>
              <a:t>også </a:t>
            </a:r>
            <a:r>
              <a:rPr lang="da-DK" dirty="0" smtClean="0"/>
              <a:t>dannes </a:t>
            </a:r>
            <a:r>
              <a:rPr lang="da-DK" dirty="0" err="1" smtClean="0"/>
              <a:t>Leydig</a:t>
            </a:r>
            <a:r>
              <a:rPr lang="da-DK" dirty="0" smtClean="0"/>
              <a:t>-celler, som kan producere testosteron.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483774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a-DK" dirty="0" smtClean="0"/>
              <a:t>Snit gennem testikel og </a:t>
            </a:r>
            <a:r>
              <a:rPr lang="da-DK" dirty="0" err="1" smtClean="0"/>
              <a:t>sædrør</a:t>
            </a:r>
            <a:endParaRPr lang="da-DK" dirty="0"/>
          </a:p>
        </p:txBody>
      </p:sp>
      <p:pic>
        <p:nvPicPr>
          <p:cNvPr id="3" name="Billed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15" t="4013" r="24871" b="46269"/>
          <a:stretch/>
        </p:blipFill>
        <p:spPr>
          <a:xfrm>
            <a:off x="0" y="2705668"/>
            <a:ext cx="2661313" cy="3409665"/>
          </a:xfrm>
          <a:prstGeom prst="rect">
            <a:avLst/>
          </a:prstGeom>
        </p:spPr>
      </p:pic>
      <p:pic>
        <p:nvPicPr>
          <p:cNvPr id="4" name="Billed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494"/>
          <a:stretch/>
        </p:blipFill>
        <p:spPr>
          <a:xfrm>
            <a:off x="2793192" y="1963003"/>
            <a:ext cx="9398808" cy="4894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677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smtClean="0"/>
              <a:t>Celletyper i mandens testikler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948454"/>
            <a:ext cx="4716439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da-DK" b="1" dirty="0" smtClean="0"/>
              <a:t>I selve sædrøret</a:t>
            </a:r>
          </a:p>
          <a:p>
            <a:r>
              <a:rPr lang="da-DK" dirty="0" smtClean="0"/>
              <a:t>Stamceller</a:t>
            </a:r>
          </a:p>
          <a:p>
            <a:pPr lvl="1"/>
            <a:r>
              <a:rPr lang="da-DK" dirty="0" smtClean="0"/>
              <a:t>Laver sædceller, 1.000/s</a:t>
            </a:r>
            <a:endParaRPr lang="da-DK" dirty="0" smtClean="0"/>
          </a:p>
          <a:p>
            <a:r>
              <a:rPr lang="da-DK" dirty="0" err="1" smtClean="0"/>
              <a:t>Sertoli</a:t>
            </a:r>
            <a:r>
              <a:rPr lang="da-DK" dirty="0" smtClean="0"/>
              <a:t>-celler</a:t>
            </a:r>
          </a:p>
          <a:p>
            <a:pPr lvl="1"/>
            <a:r>
              <a:rPr lang="da-DK" dirty="0" smtClean="0"/>
              <a:t>Forsyner sædceller med næringsstoffer og styrer deres modning</a:t>
            </a:r>
          </a:p>
          <a:p>
            <a:endParaRPr lang="da-DK" dirty="0"/>
          </a:p>
          <a:p>
            <a:pPr marL="0" indent="0">
              <a:buNone/>
            </a:pPr>
            <a:r>
              <a:rPr lang="da-DK" b="1" dirty="0" smtClean="0"/>
              <a:t>Mellem sædrørene</a:t>
            </a:r>
          </a:p>
          <a:p>
            <a:r>
              <a:rPr lang="da-DK" dirty="0" err="1" smtClean="0"/>
              <a:t>Leydig</a:t>
            </a:r>
            <a:r>
              <a:rPr lang="da-DK" dirty="0" smtClean="0"/>
              <a:t>-celler</a:t>
            </a:r>
          </a:p>
          <a:p>
            <a:pPr lvl="1"/>
            <a:r>
              <a:rPr lang="da-DK" dirty="0" smtClean="0"/>
              <a:t>Producerer testosteron</a:t>
            </a:r>
            <a:endParaRPr lang="da-DK" dirty="0"/>
          </a:p>
        </p:txBody>
      </p:sp>
      <p:pic>
        <p:nvPicPr>
          <p:cNvPr id="5" name="Pladsholder til indhold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01" t="54494"/>
          <a:stretch/>
        </p:blipFill>
        <p:spPr>
          <a:xfrm>
            <a:off x="6685352" y="1690689"/>
            <a:ext cx="5506648" cy="5167312"/>
          </a:xfrm>
          <a:prstGeom prst="rect">
            <a:avLst/>
          </a:prstGeom>
        </p:spPr>
      </p:pic>
      <p:cxnSp>
        <p:nvCxnSpPr>
          <p:cNvPr id="7" name="Lige pilforbindelse 6"/>
          <p:cNvCxnSpPr/>
          <p:nvPr/>
        </p:nvCxnSpPr>
        <p:spPr>
          <a:xfrm>
            <a:off x="4640239" y="2934269"/>
            <a:ext cx="3794077" cy="186974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Lige pilforbindelse 7"/>
          <p:cNvCxnSpPr/>
          <p:nvPr/>
        </p:nvCxnSpPr>
        <p:spPr>
          <a:xfrm>
            <a:off x="5121834" y="4209878"/>
            <a:ext cx="2830885" cy="118826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Lige pilforbindelse 9"/>
          <p:cNvCxnSpPr/>
          <p:nvPr/>
        </p:nvCxnSpPr>
        <p:spPr>
          <a:xfrm>
            <a:off x="4450107" y="5693247"/>
            <a:ext cx="2987923" cy="257654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lipse 13"/>
          <p:cNvSpPr/>
          <p:nvPr/>
        </p:nvSpPr>
        <p:spPr>
          <a:xfrm>
            <a:off x="7664355" y="3381461"/>
            <a:ext cx="3575714" cy="363348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53410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680510" cy="1325563"/>
          </a:xfrm>
        </p:spPr>
        <p:txBody>
          <a:bodyPr>
            <a:normAutofit/>
          </a:bodyPr>
          <a:lstStyle/>
          <a:p>
            <a:r>
              <a:rPr lang="da-DK" sz="4000" dirty="0" smtClean="0"/>
              <a:t>Produktionen af testosteron ændres gennem livet</a:t>
            </a:r>
            <a:endParaRPr lang="da-DK" sz="4000" dirty="0"/>
          </a:p>
        </p:txBody>
      </p:sp>
      <p:pic>
        <p:nvPicPr>
          <p:cNvPr id="3" name="Billed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8580" y="1690688"/>
            <a:ext cx="7419749" cy="5151096"/>
          </a:xfrm>
          <a:prstGeom prst="rect">
            <a:avLst/>
          </a:prstGeom>
        </p:spPr>
      </p:pic>
      <p:sp>
        <p:nvSpPr>
          <p:cNvPr id="4" name="Tekstfelt 3"/>
          <p:cNvSpPr txBox="1"/>
          <p:nvPr/>
        </p:nvSpPr>
        <p:spPr>
          <a:xfrm>
            <a:off x="709684" y="3527572"/>
            <a:ext cx="12419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smtClean="0"/>
              <a:t>OBS! Italiensk kilde - kun illustrativt formål!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335993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a-DK" dirty="0" smtClean="0"/>
              <a:t>Testosteron er et (steroid)hormon</a:t>
            </a:r>
            <a:endParaRPr lang="da-DK" dirty="0"/>
          </a:p>
        </p:txBody>
      </p:sp>
      <p:pic>
        <p:nvPicPr>
          <p:cNvPr id="5" name="Billed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88109"/>
            <a:ext cx="12204615" cy="4087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662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a-DK" dirty="0" smtClean="0"/>
              <a:t>Hvordan styres produktionen af testosteron?</a:t>
            </a:r>
            <a:endParaRPr lang="da-DK" dirty="0"/>
          </a:p>
        </p:txBody>
      </p:sp>
      <p:sp>
        <p:nvSpPr>
          <p:cNvPr id="4" name="Pladsholder til indhold 3"/>
          <p:cNvSpPr>
            <a:spLocks noGrp="1"/>
          </p:cNvSpPr>
          <p:nvPr>
            <p:ph idx="1"/>
          </p:nvPr>
        </p:nvSpPr>
        <p:spPr>
          <a:xfrm>
            <a:off x="838200" y="2688609"/>
            <a:ext cx="2996821" cy="2702257"/>
          </a:xfrm>
        </p:spPr>
        <p:txBody>
          <a:bodyPr/>
          <a:lstStyle/>
          <a:p>
            <a:pPr marL="0" indent="0">
              <a:buNone/>
            </a:pPr>
            <a:r>
              <a:rPr lang="da-DK" dirty="0" smtClean="0"/>
              <a:t>1) Af hjernen</a:t>
            </a:r>
          </a:p>
          <a:p>
            <a:pPr marL="0" indent="0">
              <a:buNone/>
            </a:pPr>
            <a:r>
              <a:rPr lang="da-DK" dirty="0" smtClean="0"/>
              <a:t>2) Af sig selv!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 smtClean="0"/>
              <a:t>Mekanisme:</a:t>
            </a:r>
          </a:p>
          <a:p>
            <a:pPr marL="0" indent="0">
              <a:buNone/>
            </a:pPr>
            <a:r>
              <a:rPr lang="da-DK" dirty="0" smtClean="0"/>
              <a:t>Negativ feedback</a:t>
            </a:r>
            <a:endParaRPr lang="da-DK" dirty="0"/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3064410785"/>
              </p:ext>
            </p:extLst>
          </p:nvPr>
        </p:nvGraphicFramePr>
        <p:xfrm>
          <a:off x="4285396" y="1956165"/>
          <a:ext cx="6886053" cy="40902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Tekstfelt 8"/>
          <p:cNvSpPr txBox="1"/>
          <p:nvPr/>
        </p:nvSpPr>
        <p:spPr>
          <a:xfrm>
            <a:off x="6714698" y="1825625"/>
            <a:ext cx="18583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3000" dirty="0" smtClean="0"/>
              <a:t>LH</a:t>
            </a:r>
            <a:endParaRPr lang="da-DK" sz="3000" dirty="0"/>
          </a:p>
        </p:txBody>
      </p:sp>
      <p:sp>
        <p:nvSpPr>
          <p:cNvPr id="10" name="Tekstfelt 9"/>
          <p:cNvSpPr txBox="1"/>
          <p:nvPr/>
        </p:nvSpPr>
        <p:spPr>
          <a:xfrm>
            <a:off x="6714698" y="5622965"/>
            <a:ext cx="20471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000" dirty="0" smtClean="0"/>
              <a:t>Testosteron</a:t>
            </a:r>
            <a:endParaRPr lang="da-DK" sz="3000" dirty="0"/>
          </a:p>
        </p:txBody>
      </p:sp>
    </p:spTree>
    <p:extLst>
      <p:ext uri="{BB962C8B-B14F-4D97-AF65-F5344CB8AC3E}">
        <p14:creationId xmlns:p14="http://schemas.microsoft.com/office/powerpoint/2010/main" val="3443831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810232" y="365125"/>
            <a:ext cx="4543568" cy="1325563"/>
          </a:xfrm>
        </p:spPr>
        <p:txBody>
          <a:bodyPr/>
          <a:lstStyle/>
          <a:p>
            <a:r>
              <a:rPr lang="da-DK" dirty="0" smtClean="0"/>
              <a:t>Hjernen</a:t>
            </a:r>
            <a:endParaRPr lang="da-DK" dirty="0"/>
          </a:p>
        </p:txBody>
      </p:sp>
      <p:sp>
        <p:nvSpPr>
          <p:cNvPr id="4" name="Pladsholder til indhold 3"/>
          <p:cNvSpPr>
            <a:spLocks noGrp="1"/>
          </p:cNvSpPr>
          <p:nvPr>
            <p:ph idx="1"/>
          </p:nvPr>
        </p:nvSpPr>
        <p:spPr>
          <a:xfrm>
            <a:off x="6810232" y="1825625"/>
            <a:ext cx="5104264" cy="4725300"/>
          </a:xfrm>
        </p:spPr>
        <p:txBody>
          <a:bodyPr>
            <a:normAutofit/>
          </a:bodyPr>
          <a:lstStyle/>
          <a:p>
            <a:r>
              <a:rPr lang="da-DK" b="1" dirty="0" err="1" smtClean="0"/>
              <a:t>Hypothalamus</a:t>
            </a:r>
            <a:endParaRPr lang="da-DK" b="1" dirty="0" smtClean="0"/>
          </a:p>
          <a:p>
            <a:pPr lvl="1"/>
            <a:r>
              <a:rPr lang="da-DK" dirty="0" smtClean="0"/>
              <a:t>kobler nervesystemet og hormonsystemet, udskiller </a:t>
            </a:r>
            <a:r>
              <a:rPr lang="da-DK" dirty="0" err="1" smtClean="0"/>
              <a:t>GnRH</a:t>
            </a:r>
            <a:r>
              <a:rPr lang="da-DK" dirty="0" smtClean="0"/>
              <a:t> (</a:t>
            </a:r>
            <a:r>
              <a:rPr lang="da-DK" dirty="0" err="1" smtClean="0"/>
              <a:t>Gonadotropin</a:t>
            </a:r>
            <a:r>
              <a:rPr lang="da-DK" dirty="0" smtClean="0"/>
              <a:t> </a:t>
            </a:r>
            <a:r>
              <a:rPr lang="da-DK" dirty="0" err="1" smtClean="0"/>
              <a:t>Releasing</a:t>
            </a:r>
            <a:r>
              <a:rPr lang="da-DK" dirty="0" smtClean="0"/>
              <a:t> </a:t>
            </a:r>
            <a:r>
              <a:rPr lang="da-DK" dirty="0" err="1" smtClean="0"/>
              <a:t>Hormone</a:t>
            </a:r>
            <a:r>
              <a:rPr lang="da-DK" dirty="0" smtClean="0"/>
              <a:t>)</a:t>
            </a:r>
          </a:p>
          <a:p>
            <a:endParaRPr lang="da-DK" dirty="0"/>
          </a:p>
          <a:p>
            <a:r>
              <a:rPr lang="da-DK" b="1" dirty="0" smtClean="0"/>
              <a:t>Hypofysen</a:t>
            </a:r>
          </a:p>
          <a:p>
            <a:pPr lvl="1"/>
            <a:r>
              <a:rPr lang="da-DK" dirty="0" smtClean="0"/>
              <a:t>Kirtelvæv i hjernen, delt i </a:t>
            </a:r>
            <a:r>
              <a:rPr lang="da-DK" dirty="0" err="1" smtClean="0"/>
              <a:t>forlap</a:t>
            </a:r>
            <a:r>
              <a:rPr lang="da-DK" dirty="0" smtClean="0"/>
              <a:t> og </a:t>
            </a:r>
            <a:r>
              <a:rPr lang="da-DK" dirty="0" err="1" smtClean="0"/>
              <a:t>baglap</a:t>
            </a:r>
            <a:r>
              <a:rPr lang="da-DK" dirty="0" smtClean="0"/>
              <a:t>. </a:t>
            </a:r>
            <a:r>
              <a:rPr lang="da-DK" dirty="0" err="1" smtClean="0"/>
              <a:t>Forlappen</a:t>
            </a:r>
            <a:r>
              <a:rPr lang="da-DK" dirty="0" smtClean="0"/>
              <a:t> udskiller FSH (</a:t>
            </a:r>
            <a:r>
              <a:rPr lang="da-DK" dirty="0" err="1" smtClean="0"/>
              <a:t>FollikelStimulerende</a:t>
            </a:r>
            <a:r>
              <a:rPr lang="da-DK" dirty="0" smtClean="0"/>
              <a:t> Hormon) og LH (</a:t>
            </a:r>
            <a:r>
              <a:rPr lang="da-DK" dirty="0" err="1" smtClean="0"/>
              <a:t>Luteiniserende</a:t>
            </a:r>
            <a:r>
              <a:rPr lang="da-DK" dirty="0" smtClean="0"/>
              <a:t> Hormon)</a:t>
            </a:r>
            <a:endParaRPr lang="da-DK" dirty="0"/>
          </a:p>
        </p:txBody>
      </p:sp>
      <p:pic>
        <p:nvPicPr>
          <p:cNvPr id="3" name="Billed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446520" cy="6858000"/>
          </a:xfrm>
          <a:prstGeom prst="rect">
            <a:avLst/>
          </a:prstGeom>
        </p:spPr>
      </p:pic>
      <p:sp>
        <p:nvSpPr>
          <p:cNvPr id="5" name="Ellipse 4"/>
          <p:cNvSpPr/>
          <p:nvPr/>
        </p:nvSpPr>
        <p:spPr>
          <a:xfrm rot="19385140">
            <a:off x="1911842" y="2811961"/>
            <a:ext cx="1329379" cy="74178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81147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4092" y="0"/>
            <a:ext cx="7663815" cy="6858000"/>
          </a:xfrm>
          <a:prstGeom prst="rect">
            <a:avLst/>
          </a:prstGeom>
        </p:spPr>
      </p:pic>
      <p:sp>
        <p:nvSpPr>
          <p:cNvPr id="4" name="Tekstfelt 3"/>
          <p:cNvSpPr txBox="1"/>
          <p:nvPr/>
        </p:nvSpPr>
        <p:spPr>
          <a:xfrm>
            <a:off x="6564573" y="6387153"/>
            <a:ext cx="3057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b="1" dirty="0" smtClean="0">
                <a:solidFill>
                  <a:srgbClr val="FF0000"/>
                </a:solidFill>
              </a:rPr>
              <a:t>R = receptor for testosteron</a:t>
            </a:r>
            <a:endParaRPr lang="da-DK" b="1" dirty="0">
              <a:solidFill>
                <a:srgbClr val="FF0000"/>
              </a:solidFill>
            </a:endParaRPr>
          </a:p>
        </p:txBody>
      </p:sp>
      <p:sp>
        <p:nvSpPr>
          <p:cNvPr id="5" name="Tekstfelt 4"/>
          <p:cNvSpPr txBox="1"/>
          <p:nvPr/>
        </p:nvSpPr>
        <p:spPr>
          <a:xfrm>
            <a:off x="5277133" y="0"/>
            <a:ext cx="52179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800" b="1" dirty="0" smtClean="0"/>
              <a:t>Samspil mellem hjerne og testikel</a:t>
            </a:r>
            <a:endParaRPr lang="da-DK" sz="2800" b="1" dirty="0"/>
          </a:p>
        </p:txBody>
      </p:sp>
    </p:spTree>
    <p:extLst>
      <p:ext uri="{BB962C8B-B14F-4D97-AF65-F5344CB8AC3E}">
        <p14:creationId xmlns:p14="http://schemas.microsoft.com/office/powerpoint/2010/main" val="1121438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144" y="0"/>
            <a:ext cx="5760720" cy="6858000"/>
          </a:xfrm>
          <a:prstGeom prst="rect">
            <a:avLst/>
          </a:prstGeom>
        </p:spPr>
      </p:pic>
      <p:sp>
        <p:nvSpPr>
          <p:cNvPr id="4" name="Rektangel 3"/>
          <p:cNvSpPr/>
          <p:nvPr/>
        </p:nvSpPr>
        <p:spPr>
          <a:xfrm>
            <a:off x="7049637" y="4437250"/>
            <a:ext cx="372584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dirty="0" smtClean="0">
                <a:effectLst/>
              </a:rPr>
              <a:t>Figur 3.59</a:t>
            </a:r>
          </a:p>
          <a:p>
            <a:r>
              <a:rPr lang="da-DK" dirty="0" smtClean="0">
                <a:effectLst/>
              </a:rPr>
              <a:t>Nervesystemet. Centralnervesystemet med hjernen og rygmarven, der modtager signaler fra det perifere nervesystem, som udgøres af de sensoriske og motoriske neuroner samt det autonome nervesystem. </a:t>
            </a:r>
            <a:endParaRPr lang="da-DK" dirty="0">
              <a:effectLst/>
            </a:endParaRPr>
          </a:p>
        </p:txBody>
      </p:sp>
      <p:sp>
        <p:nvSpPr>
          <p:cNvPr id="5" name="Tekstfelt 4"/>
          <p:cNvSpPr txBox="1"/>
          <p:nvPr/>
        </p:nvSpPr>
        <p:spPr>
          <a:xfrm>
            <a:off x="7049637" y="739382"/>
            <a:ext cx="398764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000" dirty="0" err="1" smtClean="0"/>
              <a:t>Hypothalamus</a:t>
            </a:r>
            <a:r>
              <a:rPr lang="da-DK" sz="3000" dirty="0" smtClean="0"/>
              <a:t> er både en kirtel og center for reguleringen af det autonome nervesystem. </a:t>
            </a:r>
            <a:r>
              <a:rPr lang="da-DK" sz="3000" dirty="0" err="1" smtClean="0"/>
              <a:t>Hypothalamus</a:t>
            </a:r>
            <a:r>
              <a:rPr lang="da-DK" sz="3000" dirty="0" smtClean="0"/>
              <a:t> kontrollerer bl.a. kroppens seksualdrift.</a:t>
            </a:r>
            <a:endParaRPr lang="da-DK" sz="3000" dirty="0"/>
          </a:p>
        </p:txBody>
      </p:sp>
    </p:spTree>
    <p:extLst>
      <p:ext uri="{BB962C8B-B14F-4D97-AF65-F5344CB8AC3E}">
        <p14:creationId xmlns:p14="http://schemas.microsoft.com/office/powerpoint/2010/main" val="1563535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a-DK" dirty="0" smtClean="0"/>
              <a:t>Hvad er meningen med seksualdriften?!</a:t>
            </a:r>
            <a:endParaRPr lang="da-DK" dirty="0"/>
          </a:p>
        </p:txBody>
      </p:sp>
      <p:pic>
        <p:nvPicPr>
          <p:cNvPr id="3" name="Billed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322" y="718429"/>
            <a:ext cx="9209356" cy="6139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27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a-DK" dirty="0" smtClean="0"/>
              <a:t>Kønnet formering kræver meiose</a:t>
            </a:r>
            <a:endParaRPr lang="da-DK" dirty="0"/>
          </a:p>
        </p:txBody>
      </p:sp>
      <p:pic>
        <p:nvPicPr>
          <p:cNvPr id="3" name="Billed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445" y="2312347"/>
            <a:ext cx="4233731" cy="3868383"/>
          </a:xfrm>
          <a:prstGeom prst="rect">
            <a:avLst/>
          </a:prstGeom>
        </p:spPr>
      </p:pic>
      <p:pic>
        <p:nvPicPr>
          <p:cNvPr id="4" name="Billed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9176" y="2312348"/>
            <a:ext cx="7672824" cy="3868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716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975"/>
          <a:stretch/>
        </p:blipFill>
        <p:spPr>
          <a:xfrm>
            <a:off x="1425723" y="165783"/>
            <a:ext cx="9410600" cy="6692217"/>
          </a:xfrm>
          <a:prstGeom prst="rect">
            <a:avLst/>
          </a:prstGeom>
        </p:spPr>
      </p:pic>
      <p:sp>
        <p:nvSpPr>
          <p:cNvPr id="5" name="Rektangel 4"/>
          <p:cNvSpPr/>
          <p:nvPr/>
        </p:nvSpPr>
        <p:spPr>
          <a:xfrm>
            <a:off x="6131023" y="165783"/>
            <a:ext cx="4814481" cy="66922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Rektangel 5"/>
          <p:cNvSpPr/>
          <p:nvPr/>
        </p:nvSpPr>
        <p:spPr>
          <a:xfrm>
            <a:off x="5491853" y="3236662"/>
            <a:ext cx="4814481" cy="35575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Rektangel 6"/>
          <p:cNvSpPr/>
          <p:nvPr/>
        </p:nvSpPr>
        <p:spPr>
          <a:xfrm rot="638142">
            <a:off x="5734903" y="1044173"/>
            <a:ext cx="4814481" cy="35575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8" name="Rektangel 7"/>
          <p:cNvSpPr/>
          <p:nvPr/>
        </p:nvSpPr>
        <p:spPr>
          <a:xfrm>
            <a:off x="5644253" y="3389062"/>
            <a:ext cx="4814481" cy="35575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9" name="Tekstfelt 8"/>
          <p:cNvSpPr txBox="1"/>
          <p:nvPr/>
        </p:nvSpPr>
        <p:spPr>
          <a:xfrm>
            <a:off x="218365" y="165783"/>
            <a:ext cx="264766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000" dirty="0" smtClean="0"/>
              <a:t>MITOSE: 1 =&gt; 2</a:t>
            </a:r>
            <a:endParaRPr lang="da-DK" sz="3000" dirty="0"/>
          </a:p>
        </p:txBody>
      </p:sp>
    </p:spTree>
    <p:extLst>
      <p:ext uri="{BB962C8B-B14F-4D97-AF65-F5344CB8AC3E}">
        <p14:creationId xmlns:p14="http://schemas.microsoft.com/office/powerpoint/2010/main" val="3270099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975"/>
          <a:stretch/>
        </p:blipFill>
        <p:spPr>
          <a:xfrm>
            <a:off x="1425723" y="165783"/>
            <a:ext cx="9410600" cy="6692217"/>
          </a:xfrm>
          <a:prstGeom prst="rect">
            <a:avLst/>
          </a:prstGeom>
        </p:spPr>
      </p:pic>
      <p:sp>
        <p:nvSpPr>
          <p:cNvPr id="5" name="Rektangel 4"/>
          <p:cNvSpPr/>
          <p:nvPr/>
        </p:nvSpPr>
        <p:spPr>
          <a:xfrm>
            <a:off x="0" y="165783"/>
            <a:ext cx="4814481" cy="66922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Rektangel 8"/>
          <p:cNvSpPr/>
          <p:nvPr/>
        </p:nvSpPr>
        <p:spPr>
          <a:xfrm rot="20289574">
            <a:off x="4588825" y="763463"/>
            <a:ext cx="722427" cy="27113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" name="Tekstfelt 9"/>
          <p:cNvSpPr txBox="1"/>
          <p:nvPr/>
        </p:nvSpPr>
        <p:spPr>
          <a:xfrm>
            <a:off x="9415450" y="165783"/>
            <a:ext cx="264766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000" dirty="0" smtClean="0"/>
              <a:t>MEIOSE: 1 =&gt; 4</a:t>
            </a:r>
            <a:endParaRPr lang="da-DK" sz="3000" dirty="0"/>
          </a:p>
        </p:txBody>
      </p:sp>
    </p:spTree>
    <p:extLst>
      <p:ext uri="{BB962C8B-B14F-4D97-AF65-F5344CB8AC3E}">
        <p14:creationId xmlns:p14="http://schemas.microsoft.com/office/powerpoint/2010/main" val="2503509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975"/>
          <a:stretch/>
        </p:blipFill>
        <p:spPr>
          <a:xfrm>
            <a:off x="1425723" y="165783"/>
            <a:ext cx="9410600" cy="6692217"/>
          </a:xfrm>
          <a:prstGeom prst="rect">
            <a:avLst/>
          </a:prstGeom>
        </p:spPr>
      </p:pic>
      <p:sp>
        <p:nvSpPr>
          <p:cNvPr id="6" name="Tekstfelt 5"/>
          <p:cNvSpPr txBox="1"/>
          <p:nvPr/>
        </p:nvSpPr>
        <p:spPr>
          <a:xfrm>
            <a:off x="218365" y="165783"/>
            <a:ext cx="264766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000" dirty="0" smtClean="0"/>
              <a:t>MITOSE: 1 =&gt; 2</a:t>
            </a:r>
            <a:endParaRPr lang="da-DK" sz="3000" dirty="0"/>
          </a:p>
        </p:txBody>
      </p:sp>
      <p:sp>
        <p:nvSpPr>
          <p:cNvPr id="7" name="Tekstfelt 6"/>
          <p:cNvSpPr txBox="1"/>
          <p:nvPr/>
        </p:nvSpPr>
        <p:spPr>
          <a:xfrm>
            <a:off x="9415450" y="165783"/>
            <a:ext cx="264766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000" dirty="0" smtClean="0"/>
              <a:t>MEIOSE: 1 =&gt; 4</a:t>
            </a:r>
            <a:endParaRPr lang="da-DK" sz="3000" dirty="0"/>
          </a:p>
        </p:txBody>
      </p:sp>
    </p:spTree>
    <p:extLst>
      <p:ext uri="{BB962C8B-B14F-4D97-AF65-F5344CB8AC3E}">
        <p14:creationId xmlns:p14="http://schemas.microsoft.com/office/powerpoint/2010/main" val="543831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a-DK" dirty="0" smtClean="0"/>
              <a:t>Spørgsmål?</a:t>
            </a:r>
            <a:endParaRPr lang="da-DK" dirty="0"/>
          </a:p>
        </p:txBody>
      </p:sp>
      <p:pic>
        <p:nvPicPr>
          <p:cNvPr id="3" name="Billed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4104" y="1795711"/>
            <a:ext cx="4857572" cy="4857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77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311</Words>
  <Application>Microsoft Office PowerPoint</Application>
  <PresentationFormat>Widescreen</PresentationFormat>
  <Paragraphs>62</Paragraphs>
  <Slides>16</Slides>
  <Notes>4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Office-tema</vt:lpstr>
      <vt:lpstr>Testosteronbomber</vt:lpstr>
      <vt:lpstr>Drengefosteret udvikles fra uge 8, ca.</vt:lpstr>
      <vt:lpstr>Snit gennem testikel og sædrør</vt:lpstr>
      <vt:lpstr>Celletyper i mandens testikler</vt:lpstr>
      <vt:lpstr>Produktionen af testosteron ændres gennem livet</vt:lpstr>
      <vt:lpstr>Testosteron er et (steroid)hormon</vt:lpstr>
      <vt:lpstr>Hvordan styres produktionen af testosteron?</vt:lpstr>
      <vt:lpstr>Hjernen</vt:lpstr>
      <vt:lpstr>PowerPoint-præsentation</vt:lpstr>
      <vt:lpstr>PowerPoint-præsentation</vt:lpstr>
      <vt:lpstr>Hvad er meningen med seksualdriften?!</vt:lpstr>
      <vt:lpstr>Kønnet formering kræver meiose</vt:lpstr>
      <vt:lpstr>PowerPoint-præsentation</vt:lpstr>
      <vt:lpstr>PowerPoint-præsentation</vt:lpstr>
      <vt:lpstr>PowerPoint-præsentation</vt:lpstr>
      <vt:lpstr>Spørgsmål?</vt:lpstr>
    </vt:vector>
  </TitlesOfParts>
  <Company>IT-Center Fyn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Testosteron- bomber</dc:title>
  <dc:creator>Charlotte Skov</dc:creator>
  <cp:lastModifiedBy>Charlotte Skov</cp:lastModifiedBy>
  <cp:revision>18</cp:revision>
  <dcterms:created xsi:type="dcterms:W3CDTF">2017-02-07T07:06:36Z</dcterms:created>
  <dcterms:modified xsi:type="dcterms:W3CDTF">2017-02-07T08:37:44Z</dcterms:modified>
</cp:coreProperties>
</file>